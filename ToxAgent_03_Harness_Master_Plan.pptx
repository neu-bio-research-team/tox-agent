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8"/>
    <p:sldId id="257" r:id="rId7"/>
    <p:sldId id="258" r:id="rId6"/>
    <p:sldId id="259" r:id="rId5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</p:sldIdLst>
  <p:sldSz cy="6858000" cx="12192000"/>
  <p:notesSz cx="6858000" cy="9144000"/>
  <p:embeddedFontLst>
    <p:embeddedFont>
      <p:font typeface="Play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2ZLwmwPqtoFpUvbIbnB5wqrvH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slide" Target="slides/slide1.xml"/><Relationship Id="rId9" Type="http://schemas.openxmlformats.org/officeDocument/2006/relationships/font" Target="fonts/Play-regular.fntdata"/><Relationship Id="rId10" Type="http://schemas.openxmlformats.org/officeDocument/2006/relationships/font" Target="fonts/Play-bold.fntdata"/><Relationship Id="rId11" Type="http://customschemas.google.com/relationships/presentationmetadata" Target="metadata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4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4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J">
  <p:cSld name="TITLE_AND_BODY_2_1_1_1_1_1_2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06067da4f_0_38"/>
          <p:cNvSpPr/>
          <p:nvPr>
            <p:ph idx="2" type="pic"/>
          </p:nvPr>
        </p:nvSpPr>
        <p:spPr>
          <a:xfrm>
            <a:off x="457200" y="1519300"/>
            <a:ext cx="3090600" cy="30906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6" name="Google Shape;86;g3b06067da4f_0_3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g3b06067da4f_0_38"/>
          <p:cNvSpPr txBox="1"/>
          <p:nvPr>
            <p:ph idx="1" type="body"/>
          </p:nvPr>
        </p:nvSpPr>
        <p:spPr>
          <a:xfrm>
            <a:off x="3854182" y="1519301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3810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3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92" name="Google Shape;92;p1"/>
          <p:cNvSpPr/>
          <p:nvPr/>
        </p:nvSpPr>
        <p:spPr>
          <a:xfrm>
            <a:off x="0" y="0"/>
            <a:ext cx="12192000" cy="1715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>
            <p:ph type="ctrTitle"/>
          </p:nvPr>
        </p:nvSpPr>
        <p:spPr>
          <a:xfrm>
            <a:off x="1302654" y="1809955"/>
            <a:ext cx="9586800" cy="185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Times New Roman"/>
              <a:buNone/>
            </a:pPr>
            <a:r>
              <a:rPr sz="3000" b="1">
                <a:solidFill>
                  <a:srgbClr val="0E2841"/>
                </a:solidFill>
                <a:latin typeface="Times New Roman"/>
              </a:rPr>
              <a:t>ToxAgent Harness
Từ khái niệm đến lộ trình xây lại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2044993" y="3998084"/>
            <a:ext cx="79236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sz="1900" b="1">
                <a:latin typeface="Times New Roman"/>
              </a:rPr>
              <a:t>NEU Bio-Research Team</a:t>
            </a:r>
            <a:endParaRPr b="1"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/>
            <a:r>
              <a:rPr sz="1900" b="1">
                <a:latin typeface="Times New Roman"/>
              </a:rPr>
              <a:t>Presenter: Nguyen Minh Quang</a:t>
            </a:r>
          </a:p>
          <a:p>
            <a:pPr algn="ctr"/>
            <a:r>
              <a:rPr sz="1500" b="0">
                <a:latin typeface="Times New Roman"/>
              </a:rPr>
              <a:t>Nguồn: docs/spec/TOXAGENT_HARNESS_MASTER_PLAN_VI.md · nhánh agent_test</a:t>
            </a:r>
          </a:p>
        </p:txBody>
      </p:sp>
      <p:cxnSp>
        <p:nvCxnSpPr>
          <p:cNvPr id="95" name="Google Shape;95;p1"/>
          <p:cNvCxnSpPr/>
          <p:nvPr/>
        </p:nvCxnSpPr>
        <p:spPr>
          <a:xfrm flipH="1" rot="10800000">
            <a:off x="2043711" y="5288776"/>
            <a:ext cx="7923600" cy="8800"/>
          </a:xfrm>
          <a:prstGeom prst="straightConnector1">
            <a:avLst/>
          </a:prstGeom>
          <a:noFill/>
          <a:ln cap="flat" cmpd="sng" w="19050">
            <a:solidFill>
              <a:srgbClr val="002060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96" name="Google Shape;96;p1"/>
          <p:cNvSpPr txBox="1"/>
          <p:nvPr/>
        </p:nvSpPr>
        <p:spPr>
          <a:xfrm>
            <a:off x="3343583" y="3147938"/>
            <a:ext cx="549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sz="2000" b="1">
                <a:solidFill>
                  <a:srgbClr val="000000"/>
                </a:solidFill>
                <a:latin typeface="Times New Roman"/>
              </a:rPr>
              <a:t>Architecture Master Plan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493995" y="1160199"/>
            <a:ext cx="2743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sz="1400" b="0">
                <a:solidFill>
                  <a:srgbClr val="FFFFFF"/>
                </a:solidFill>
                <a:latin typeface="Arial"/>
              </a:rPr>
              <a:t>ToxAgent,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/>
            <a:r>
              <a:rPr sz="1400" b="0">
                <a:solidFill>
                  <a:srgbClr val="FFFFFF"/>
                </a:solidFill>
                <a:latin typeface="Arial"/>
              </a:rPr>
              <a:t>2026</a:t>
            </a:r>
          </a:p>
        </p:txBody>
      </p:sp>
      <p:pic>
        <p:nvPicPr>
          <p:cNvPr id="98" name="Picture 97" descr="p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0616" y="-848"/>
            <a:ext cx="1473506" cy="1598767"/>
          </a:xfrm>
          <a:prstGeom prst="rect">
            <a:avLst/>
          </a:prstGeom>
        </p:spPr>
      </p:pic>
      <p:pic>
        <p:nvPicPr>
          <p:cNvPr id="99" name="Picture 98" descr="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8244" y="-2"/>
            <a:ext cx="1597073" cy="1597072"/>
          </a:xfrm>
          <a:prstGeom prst="rect">
            <a:avLst/>
          </a:prstGeom>
        </p:spPr>
      </p:pic>
      <p:pic>
        <p:nvPicPr>
          <p:cNvPr id="100" name="Picture 99" descr="p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055" y="96032"/>
            <a:ext cx="1016958" cy="1060539"/>
          </a:xfrm>
          <a:prstGeom prst="rect">
            <a:avLst/>
          </a:prstGeom>
        </p:spPr>
      </p:pic>
      <p:pic>
        <p:nvPicPr>
          <p:cNvPr id="101" name="Picture 100" descr="p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940" y="5457410"/>
            <a:ext cx="2118987" cy="12075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Nội dung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777240" y="1234440"/>
            <a:ext cx="868680" cy="841248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828800" y="1289304"/>
            <a:ext cx="950976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E2841"/>
                </a:solidFill>
                <a:latin typeface="Times New Roman"/>
              </a:rPr>
              <a:t>Harness là gì — và OpenCode / DSH là gì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828800" y="1719072"/>
            <a:ext cx="9509760" cy="30175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Times New Roman"/>
              </a:rPr>
              <a:t>NỀN TẢNG KHÁI NIỆM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777240" y="2258568"/>
            <a:ext cx="868680" cy="84124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828800" y="2313432"/>
            <a:ext cx="950976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E2841"/>
                </a:solidFill>
                <a:latin typeface="Times New Roman"/>
              </a:rPr>
              <a:t>ToxAgent hôm nay: sáu sản phẩm, bảy chẩn đoán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828800" y="2743200"/>
            <a:ext cx="9509760" cy="30175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Times New Roman"/>
              </a:rPr>
              <a:t>HIỆN TRẠNG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777240" y="3282696"/>
            <a:ext cx="868680" cy="841248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28800" y="3337560"/>
            <a:ext cx="950976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E2841"/>
                </a:solidFill>
                <a:latin typeface="Times New Roman"/>
              </a:rPr>
              <a:t>Giữ gì, xoá gì — và kiến trúc đích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28800" y="3767328"/>
            <a:ext cx="9509760" cy="30175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Times New Roman"/>
              </a:rPr>
              <a:t>QUYẾT ĐỊNH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77240" y="4306824"/>
            <a:ext cx="868680" cy="841248"/>
          </a:xfrm>
          <a:prstGeom prst="roundRect">
            <a:avLst>
              <a:gd name="adj" fmla="val 9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828800" y="4361688"/>
            <a:ext cx="950976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E2841"/>
                </a:solidFill>
                <a:latin typeface="Times New Roman"/>
              </a:rPr>
              <a:t>Thuê agent loop từ OpenCode và DSH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828800" y="4791456"/>
            <a:ext cx="9509760" cy="30175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Times New Roman"/>
              </a:rPr>
              <a:t>TÍCH HỢP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777240" y="5330952"/>
            <a:ext cx="868680" cy="841248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828800" y="5385816"/>
            <a:ext cx="950976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E2841"/>
                </a:solidFill>
                <a:latin typeface="Times New Roman"/>
              </a:rPr>
              <a:t>Lộ trình S0–S7, rủi ro và quyết định cần chốt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828800" y="5815584"/>
            <a:ext cx="9509760" cy="30175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95959"/>
                </a:solidFill>
                <a:latin typeface="Times New Roman"/>
              </a:rPr>
              <a:t>THỰC THI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777240" y="5742432"/>
            <a:ext cx="10652760" cy="56692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Một câu: giữ hạt nhân khoa học — thay toàn bộ control plane.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Tóm tắt điều hành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48640" y="1051560"/>
            <a:ext cx="11091672" cy="120700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“Giữ và cô lập scientific kernel cùng deterministic analysis contract;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thay thế toàn bộ control plane bằng một harness stateful, typed, provenance-first —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trong đó agent loop được thuê từ OpenCode hoặc DSH thay vì tự viết.”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2432304"/>
            <a:ext cx="3739896" cy="3017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5" name="Rounded Rectangle 124"/>
          <p:cNvSpPr/>
          <p:nvPr/>
        </p:nvSpPr>
        <p:spPr>
          <a:xfrm>
            <a:off x="731520" y="2615184"/>
            <a:ext cx="566928" cy="566928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17319" y="2633472"/>
            <a:ext cx="2743200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C00000"/>
                </a:solidFill>
                <a:latin typeface="Times New Roman"/>
              </a:rPr>
              <a:t>Ranh giới “chỉ giữ /predict”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C00000"/>
                </a:solidFill>
                <a:latin typeface="Times New Roman"/>
              </a:rPr>
              <a:t>là quá hẹp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68096" y="3547872"/>
            <a:ext cx="3337560" cy="1828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Thứ cần giữ là scientific kernel: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SMILES, model registry, threshold,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OOD, verdict — và /analyze.</a:t>
            </a:r>
          </a:p>
          <a:p>
            <a:pPr algn="l">
              <a:spcAft>
                <a:spcPts val="500"/>
              </a:spcAft>
            </a:pPr>
            <a:r>
              <a:rPr sz="700" b="0">
                <a:solidFill>
                  <a:srgbClr val="0E2841"/>
                </a:solidFill>
                <a:latin typeface="Times New Roman"/>
              </a:rPr>
              <a:t> 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Bỏ /analyze = đẩy invariant khoa học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vào orchestration không xác định.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224528" y="2432304"/>
            <a:ext cx="3739896" cy="3017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4407408" y="2615184"/>
            <a:ext cx="566928" cy="56692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093208" y="2633472"/>
            <a:ext cx="2743200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E97132"/>
                </a:solidFill>
                <a:latin typeface="Times New Roman"/>
              </a:rPr>
              <a:t>Gần như toàn bộ agent /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E97132"/>
                </a:solidFill>
                <a:latin typeface="Times New Roman"/>
              </a:rPr>
              <a:t>control plane nên viết lại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43984" y="3547872"/>
            <a:ext cx="3337560" cy="1828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ADK, god module, planner if/elif,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session in-memory, SSE từ call stack,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context phẳng cắt theo ký tự.</a:t>
            </a:r>
          </a:p>
          <a:p>
            <a:pPr algn="l">
              <a:spcAft>
                <a:spcPts val="500"/>
              </a:spcAft>
            </a:pPr>
            <a:r>
              <a:rPr sz="700" b="0">
                <a:solidFill>
                  <a:srgbClr val="0E2841"/>
                </a:solidFill>
                <a:latin typeface="Times New Roman"/>
              </a:rPr>
              <a:t> 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Đây là phần đang tạo nợ —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không phải phần tạo giá trị.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7900416" y="2432304"/>
            <a:ext cx="3739896" cy="3017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8083296" y="2615184"/>
            <a:ext cx="566928" cy="566928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6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769096" y="2633472"/>
            <a:ext cx="2743200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Đích: modular monolith,</a:t>
            </a:r>
          </a:p>
          <a:p>
            <a:pPr algn="l">
              <a:spcAft>
                <a:spcPts val="100"/>
              </a:spcAft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hai làn, một kernel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119872" y="3547872"/>
            <a:ext cx="3337560" cy="1828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Làn A deterministic để audit.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Làn B agent loop cho hỏi đáp,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chạy trên OpenCode hoặc DSH.</a:t>
            </a:r>
          </a:p>
          <a:p>
            <a:pPr algn="l">
              <a:spcAft>
                <a:spcPts val="500"/>
              </a:spcAft>
            </a:pPr>
            <a:r>
              <a:rPr sz="700" b="0">
                <a:solidFill>
                  <a:srgbClr val="0E2841"/>
                </a:solidFill>
                <a:latin typeface="Times New Roman"/>
              </a:rPr>
              <a:t> 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ToxAgent vẫn sở hữu tool plane,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session, rules và provenance.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48640" y="5632704"/>
            <a:ext cx="11091672" cy="603504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Không bắt đầu bằng multi-agent, plugin framework, code execution hay một model loop tự viết.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Nếu chỉ chọn một đường để bắt đầu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66928" y="1188720"/>
            <a:ext cx="2615184" cy="1691640"/>
          </a:xfrm>
          <a:prstGeom prst="roundRect">
            <a:avLst>
              <a:gd name="adj" fmla="val 9000"/>
            </a:avLst>
          </a:prstGeom>
          <a:solidFill>
            <a:srgbClr val="E7EFF7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694944" y="1316736"/>
            <a:ext cx="475488" cy="475488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94944" y="1883664"/>
            <a:ext cx="235915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Freeze /analyze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" y="2505456"/>
            <a:ext cx="235915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contract + golden test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3364992" y="1188720"/>
            <a:ext cx="2615184" cy="1691640"/>
          </a:xfrm>
          <a:prstGeom prst="roundRect">
            <a:avLst>
              <a:gd name="adj" fmla="val 9000"/>
            </a:avLst>
          </a:prstGeom>
          <a:solidFill>
            <a:srgbClr val="E7EFF7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3493008" y="1316736"/>
            <a:ext cx="475488" cy="475488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3493008" y="1883664"/>
            <a:ext cx="235915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Extract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ToxicologyAnalyzer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493008" y="2505456"/>
            <a:ext cx="235915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ra khỏi FastAPI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163056" y="1188720"/>
            <a:ext cx="2615184" cy="1691640"/>
          </a:xfrm>
          <a:prstGeom prst="roundRect">
            <a:avLst>
              <a:gd name="adj" fmla="val 9000"/>
            </a:avLst>
          </a:prstGeom>
          <a:solidFill>
            <a:srgbClr val="E7EFF7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6291072" y="1316736"/>
            <a:ext cx="475488" cy="475488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291072" y="1883664"/>
            <a:ext cx="235915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Tool gọi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in-process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291072" y="2505456"/>
            <a:ext cx="235915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bỏ self-HTTP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8961120" y="1188720"/>
            <a:ext cx="2615184" cy="1691640"/>
          </a:xfrm>
          <a:prstGeom prst="roundRect">
            <a:avLst>
              <a:gd name="adj" fmla="val 9000"/>
            </a:avLst>
          </a:prstGeom>
          <a:solidFill>
            <a:srgbClr val="E7EFF7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9089136" y="1316736"/>
            <a:ext cx="475488" cy="475488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89136" y="1883664"/>
            <a:ext cx="2359152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Session /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message / part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9089136" y="2505456"/>
            <a:ext cx="2359152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store bền vững</a:t>
            </a:r>
          </a:p>
        </p:txBody>
      </p:sp>
      <p:sp>
        <p:nvSpPr>
          <p:cNvPr id="139" name="Right Arrow 138"/>
          <p:cNvSpPr/>
          <p:nvPr/>
        </p:nvSpPr>
        <p:spPr>
          <a:xfrm>
            <a:off x="566928" y="3035808"/>
            <a:ext cx="10844784" cy="237744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1280160" y="3474720"/>
            <a:ext cx="3017520" cy="1691640"/>
          </a:xfrm>
          <a:prstGeom prst="roundRect">
            <a:avLst>
              <a:gd name="adj" fmla="val 9000"/>
            </a:avLst>
          </a:prstGeom>
          <a:solidFill>
            <a:srgbClr val="E4F0E5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426463" y="3602736"/>
            <a:ext cx="475488" cy="475488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426463" y="4169663"/>
            <a:ext cx="2743200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ToxAgent MCP +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RuntimeGateway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26463" y="4791456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OpenCode / DSH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572000" y="3474720"/>
            <a:ext cx="3017520" cy="1691640"/>
          </a:xfrm>
          <a:prstGeom prst="roundRect">
            <a:avLst>
              <a:gd name="adj" fmla="val 9000"/>
            </a:avLst>
          </a:prstGeom>
          <a:solidFill>
            <a:srgbClr val="E4F0E5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4718304" y="3602736"/>
            <a:ext cx="475488" cy="475488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18304" y="4169663"/>
            <a:ext cx="2743200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Migrate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frontend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718304" y="4791456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unified SSE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7863840" y="3474720"/>
            <a:ext cx="3017520" cy="1691640"/>
          </a:xfrm>
          <a:prstGeom prst="roundRect">
            <a:avLst>
              <a:gd name="adj" fmla="val 9000"/>
            </a:avLst>
          </a:prstGeom>
          <a:solidFill>
            <a:srgbClr val="E4F0E5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8010144" y="3602736"/>
            <a:ext cx="475488" cy="475488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010144" y="4169663"/>
            <a:ext cx="2743200" cy="62179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Xoá ADK và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/agent/* cũ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8010144" y="4791456"/>
            <a:ext cx="2743200" cy="274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deprecation window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566928" y="5376672"/>
            <a:ext cx="10844784" cy="74980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Đây là con đường ngắn nhất để “đập đi xây lại” mà không đập luôn phần khoa học đáng giữ nhất.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0" y="2148840"/>
            <a:ext cx="12191695" cy="1737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822960" y="2286000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FC5E8"/>
                </a:solidFill>
                <a:latin typeface="Times New Roman"/>
              </a:rPr>
              <a:t>PHẦN 1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2724912"/>
            <a:ext cx="11091672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imes New Roman"/>
              </a:rPr>
              <a:t>Harness là gì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05840" y="4114800"/>
            <a:ext cx="10177272" cy="1005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595959"/>
                </a:solidFill>
                <a:latin typeface="Times New Roman"/>
              </a:rPr>
              <a:t>Định nghĩa, bảy trách nhiệm, và hai runtime sẽ cho ToxAgent thuê agent 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Harness là gì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48640" y="1078992"/>
            <a:ext cx="11091672" cy="96012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Lớp phần mềm bao quanh một LLM, biến nó từ một hàm sinh văn bản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thành một hệ thống thực thi có trạng thái, có công cụ và có ràng buộc.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2304288"/>
            <a:ext cx="5394960" cy="1508760"/>
          </a:xfrm>
          <a:prstGeom prst="roundRect">
            <a:avLst>
              <a:gd name="adj" fmla="val 9000"/>
            </a:avLst>
          </a:prstGeom>
          <a:solidFill>
            <a:srgbClr val="E7EFF7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95959"/>
                </a:solidFill>
                <a:latin typeface="Times New Roman"/>
              </a:rPr>
              <a:t>MODEL quyết định</a:t>
            </a:r>
          </a:p>
          <a:p>
            <a:pPr algn="ctr">
              <a:spcAft>
                <a:spcPts val="200"/>
              </a:spcAft>
            </a:pPr>
            <a:r>
              <a:rPr sz="2600" b="1">
                <a:solidFill>
                  <a:srgbClr val="156082"/>
                </a:solidFill>
                <a:latin typeface="Times New Roman"/>
              </a:rPr>
              <a:t>nên làm gì tiếp theo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245352" y="2304288"/>
            <a:ext cx="5394960" cy="1508760"/>
          </a:xfrm>
          <a:prstGeom prst="roundRect">
            <a:avLst>
              <a:gd name="adj" fmla="val 9000"/>
            </a:avLst>
          </a:prstGeom>
          <a:solidFill>
            <a:srgbClr val="FDECE0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595959"/>
                </a:solidFill>
                <a:latin typeface="Times New Roman"/>
              </a:rPr>
              <a:t>HARNESS quyết định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E97132"/>
                </a:solidFill>
                <a:latin typeface="Times New Roman"/>
              </a:rPr>
              <a:t>điều gì được phép xảy ra, ghi lại thế nào,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E97132"/>
                </a:solidFill>
                <a:latin typeface="Times New Roman"/>
              </a:rPr>
              <a:t>và cái gì vào context lần sau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640" y="4041648"/>
            <a:ext cx="11091672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E2841"/>
                </a:solidFill>
                <a:latin typeface="Times New Roman"/>
              </a:rPr>
              <a:t>Ví von: model là động cơ; harness là khung xe, hộp số, phanh và bảng đồng hồ.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48640" y="4617720"/>
            <a:ext cx="11091672" cy="100584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Động cơ mạnh không tự tạo ra một chiếc xe lái được.</a:t>
            </a:r>
          </a:p>
          <a:p>
            <a:pPr algn="ctr">
              <a:spcAft>
                <a:spcPts val="200"/>
              </a:spcAft>
            </a:pPr>
            <a:r>
              <a:rPr sz="1900" b="0">
                <a:solidFill>
                  <a:srgbClr val="9FC5E8"/>
                </a:solidFill>
                <a:latin typeface="Times New Roman"/>
              </a:rPr>
              <a:t>ToxAgent đang có động cơ tốt — và đang thiếu phần còn lại của chiếc xe.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Bảy trách nhiệm của một harness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66928" y="1170432"/>
            <a:ext cx="3566160" cy="109728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694944" y="1298448"/>
            <a:ext cx="420624" cy="420624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207007" y="1298448"/>
            <a:ext cx="2816352" cy="4389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50" b="1">
                <a:solidFill>
                  <a:srgbClr val="0E2841"/>
                </a:solidFill>
                <a:latin typeface="Times New Roman"/>
              </a:rPr>
              <a:t>Agent loop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94944" y="181051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model → tool → observation → model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4315968" y="1170432"/>
            <a:ext cx="3566160" cy="109728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4443983" y="1298448"/>
            <a:ext cx="420624" cy="420624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956048" y="1298448"/>
            <a:ext cx="2816352" cy="4389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50" b="1">
                <a:solidFill>
                  <a:srgbClr val="0E2841"/>
                </a:solidFill>
                <a:latin typeface="Times New Roman"/>
              </a:rPr>
              <a:t>Tool plane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443983" y="181051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registry, schema, timeout, typed error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8065008" y="1170432"/>
            <a:ext cx="3566160" cy="109728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8193024" y="1298448"/>
            <a:ext cx="420624" cy="420624"/>
          </a:xfrm>
          <a:prstGeom prst="roundRect">
            <a:avLst>
              <a:gd name="adj" fmla="val 9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705088" y="1298448"/>
            <a:ext cx="2816352" cy="4389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50" b="1">
                <a:solidFill>
                  <a:srgbClr val="0E2841"/>
                </a:solidFill>
                <a:latin typeface="Times New Roman"/>
              </a:rPr>
              <a:t>Context management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193024" y="181051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assembly, budget, projection, compaction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66928" y="2432304"/>
            <a:ext cx="3566160" cy="109728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694944" y="2560320"/>
            <a:ext cx="420624" cy="420624"/>
          </a:xfrm>
          <a:prstGeom prst="roundRect">
            <a:avLst>
              <a:gd name="adj" fmla="val 9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207007" y="2560320"/>
            <a:ext cx="2816352" cy="4389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50" b="1">
                <a:solidFill>
                  <a:srgbClr val="0E2841"/>
                </a:solidFill>
                <a:latin typeface="Times New Roman"/>
              </a:rPr>
              <a:t>State &amp; persistence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94944" y="3072384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session/message/part, resume, audit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4315968" y="2432304"/>
            <a:ext cx="3566160" cy="109728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4443983" y="2560320"/>
            <a:ext cx="420624" cy="420624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956048" y="2560320"/>
            <a:ext cx="2816352" cy="4389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50" b="1">
                <a:solidFill>
                  <a:srgbClr val="0E2841"/>
                </a:solidFill>
                <a:latin typeface="Times New Roman"/>
              </a:rPr>
              <a:t>Policy &amp; enforcement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443983" y="3072384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auth, quota, invariant — bằng code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065008" y="2432304"/>
            <a:ext cx="3566160" cy="109728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4" name="Rounded Rectangle 143"/>
          <p:cNvSpPr/>
          <p:nvPr/>
        </p:nvSpPr>
        <p:spPr>
          <a:xfrm>
            <a:off x="8193024" y="2560320"/>
            <a:ext cx="420624" cy="420624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705088" y="2560320"/>
            <a:ext cx="2816352" cy="4389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50" b="1">
                <a:solidFill>
                  <a:srgbClr val="0E2841"/>
                </a:solidFill>
                <a:latin typeface="Times New Roman"/>
              </a:rPr>
              <a:t>Lifecycle &amp; observability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193024" y="3072384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hooks, usage/cost, tracing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66928" y="3694176"/>
            <a:ext cx="11064240" cy="109728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694944" y="3822191"/>
            <a:ext cx="420624" cy="420624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07007" y="3822191"/>
            <a:ext cx="10314432" cy="4389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50" b="1">
                <a:solidFill>
                  <a:srgbClr val="0E2841"/>
                </a:solidFill>
                <a:latin typeface="Times New Roman"/>
              </a:rPr>
              <a:t>Interface &amp; streaming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94944" y="4334256"/>
            <a:ext cx="10789919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event feed bền vững, cancel, reconnect bằng Last-Event-ID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66928" y="5193792"/>
            <a:ext cx="11064240" cy="102412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Bảy quyết định này vẫn đang được ra trong ToxAgent hôm nay — chỉ là rải rác, ẩn danh và không ai sở hữu.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Harness khác gì với các khái niệm lân cận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02920" y="1115568"/>
          <a:ext cx="11183110" cy="341985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23007"/>
                <a:gridCol w="4286859"/>
                <a:gridCol w="4473244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Khái niệm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Là gì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KHÔNG phải là gì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Model / LLM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Hàm sinh token, có thể phát tool-call request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có state, không có quyền, không tự thực thi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Agent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Một cấu hình: prompt + tool surface + policy + model route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phải runtime — nhiều agent chạy trên cùng harness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Framework
LangGraph, CrewAI, ADK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Thư viện để TỰ LẮP một loop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chạy được ngay — vẫn phải tự làm cả bảy trách nhiệm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Harness
OpenCode, DSH, Claude Code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Runtime hoàn chỉnh đã có sẵn bảy trách nhiệm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chứa domain logic của bạn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MCP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Giao thức mô tả và gọi tool GIỮA các process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phải harness; không làm bus nội bộ cùng process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4" name="Rounded Rectangle 123"/>
          <p:cNvSpPr/>
          <p:nvPr/>
        </p:nvSpPr>
        <p:spPr>
          <a:xfrm>
            <a:off x="502920" y="4892040"/>
            <a:ext cx="11183112" cy="123444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Thay ADK bằng LangGraph / CrewAI = đổi framework này lấy framework khác.</a:t>
            </a:r>
          </a:p>
          <a:p>
            <a:pPr algn="ctr">
              <a:spcAft>
                <a:spcPts val="200"/>
              </a:spcAft>
            </a:pPr>
            <a:r>
              <a:rPr sz="2100" b="1">
                <a:solidFill>
                  <a:srgbClr val="9FC5E8"/>
                </a:solidFill>
                <a:latin typeface="Times New Roman"/>
              </a:rPr>
              <a:t>Dùng OpenCode hoặc DSH = thuê nguyên một harness đã có sẵn cả bảy trách nhiệm.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OpenCode — harness mã nguồn mở, kiến trúc client / server</a:t>
            </a:r>
          </a:p>
        </p:txBody>
      </p:sp>
      <p:pic>
        <p:nvPicPr>
          <p:cNvPr id="123" name="Picture 122" descr="gh_open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15568"/>
            <a:ext cx="5577840" cy="278892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24" name="TextBox 123"/>
          <p:cNvSpPr txBox="1"/>
          <p:nvPr/>
        </p:nvSpPr>
        <p:spPr>
          <a:xfrm>
            <a:off x="566928" y="4041648"/>
            <a:ext cx="55778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</a:rPr>
              <a:t>Ảnh chụp GitHub · 2026-09-03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400800" y="1170432"/>
            <a:ext cx="5257800" cy="3017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50" b="1">
                <a:solidFill>
                  <a:srgbClr val="0E2841"/>
                </a:solidFill>
                <a:latin typeface="Times New Roman"/>
              </a:rPr>
              <a:t>• Headless server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595959"/>
                </a:solidFill>
                <a:latin typeface="Times New Roman"/>
              </a:rPr>
              <a:t>  opencode serve · HTTP API có OpenAPI 3.1 · SSE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0E2841"/>
                </a:solidFill>
                <a:latin typeface="Times New Roman"/>
              </a:rPr>
              <a:t>• Session model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595959"/>
                </a:solidFill>
                <a:latin typeface="Times New Roman"/>
              </a:rPr>
              <a:t>  session → message → part, typed state, event là change feed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0E2841"/>
                </a:solidFill>
                <a:latin typeface="Times New Roman"/>
              </a:rPr>
              <a:t>• Agents &amp; permissions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595959"/>
                </a:solidFill>
                <a:latin typeface="Times New Roman"/>
              </a:rPr>
              <a:t>  mode primary/subagent, steps cap, deny theo tool pattern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0E2841"/>
                </a:solidFill>
                <a:latin typeface="Times New Roman"/>
              </a:rPr>
              <a:t>• MCP client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595959"/>
                </a:solidFill>
                <a:latin typeface="Times New Roman"/>
              </a:rPr>
              <a:t>  kết nối MCP server local và remote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400800" y="4224528"/>
            <a:ext cx="5257800" cy="1874519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Vì sao dùng được cho ToxAgent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9FC5E8"/>
                </a:solidFill>
                <a:latin typeface="Times New Roman"/>
              </a:rPr>
              <a:t>Chính kiến trúc client/server khiến nó dùng được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9FC5E8"/>
                </a:solidFill>
                <a:latin typeface="Times New Roman"/>
              </a:rPr>
              <a:t>làm backend runtime cho một ứng dụng khác —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9FC5E8"/>
                </a:solidFill>
                <a:latin typeface="Times New Roman"/>
              </a:rPr>
              <a:t>không chỉ cho TUI của chính nó.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6928" y="4434840"/>
            <a:ext cx="5577840" cy="1691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Bề mặt API ToxAgent sẽ dùng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56082"/>
                </a:solidFill>
                <a:latin typeface="Times New Roman"/>
              </a:rPr>
              <a:t>POST /session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56082"/>
                </a:solidFill>
                <a:latin typeface="Times New Roman"/>
              </a:rPr>
              <a:t>GET  /event                      (SSE)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56082"/>
                </a:solidFill>
                <a:latin typeface="Times New Roman"/>
              </a:rPr>
              <a:t>POST /session/{id}/prompt_async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156082"/>
                </a:solidFill>
                <a:latin typeface="Times New Roman"/>
              </a:rPr>
              <a:t>POST /session/{id}/abort         (cancel)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DeepSeek Harness (DSH) — “Everything is a Plugin”</a:t>
            </a:r>
          </a:p>
        </p:txBody>
      </p:sp>
      <p:pic>
        <p:nvPicPr>
          <p:cNvPr id="123" name="Picture 122" descr="gh_d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115568"/>
            <a:ext cx="5577840" cy="2788920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24" name="TextBox 123"/>
          <p:cNvSpPr txBox="1"/>
          <p:nvPr/>
        </p:nvSpPr>
        <p:spPr>
          <a:xfrm>
            <a:off x="566928" y="4041648"/>
            <a:ext cx="55778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</a:rPr>
              <a:t>Ảnh chụp GitHub · 2026-09-03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400800" y="1170432"/>
            <a:ext cx="5257800" cy="3017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50" b="1">
                <a:solidFill>
                  <a:srgbClr val="0E2841"/>
                </a:solidFill>
                <a:latin typeface="Times New Roman"/>
              </a:rPr>
              <a:t>• Plugin runtime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595959"/>
                </a:solidFill>
                <a:latin typeface="Times New Roman"/>
              </a:rPr>
              <a:t>  Cordis dependency graph, profile/patch YAML, fail-loud config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0E2841"/>
                </a:solidFill>
                <a:latin typeface="Times New Roman"/>
              </a:rPr>
              <a:t>• Python SDK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595959"/>
                </a:solidFill>
                <a:latin typeface="Times New Roman"/>
              </a:rPr>
              <a:t>  spawn runtime qua JSON-RPC stdio, nhận events + final response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0E2841"/>
                </a:solidFill>
                <a:latin typeface="Times New Roman"/>
              </a:rPr>
              <a:t>• MCP client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595959"/>
                </a:solidFill>
                <a:latin typeface="Times New Roman"/>
              </a:rPr>
              <a:t>  stdio và Streamable HTTP, namespace mcp__&lt;server&gt;__&lt;tool&gt;</a:t>
            </a:r>
          </a:p>
          <a:p>
            <a:pPr algn="l">
              <a:spcAft>
                <a:spcPts val="200"/>
              </a:spcAft>
            </a:pPr>
            <a:r>
              <a:rPr sz="1750" b="1">
                <a:solidFill>
                  <a:srgbClr val="0E2841"/>
                </a:solidFill>
                <a:latin typeface="Times New Roman"/>
              </a:rPr>
              <a:t>• Tool restriction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595959"/>
                </a:solidFill>
                <a:latin typeface="Times New Roman"/>
              </a:rPr>
              <a:t>  áp dụng ở CẢ prompt lẫn execution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400800" y="4224528"/>
            <a:ext cx="5257800" cy="1874519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Giới hạn phải biết trước khi tích hợp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Times New Roman"/>
              </a:rPr>
              <a:t>Chưa có mid-turn cancel ở SDK → adapter phải công bố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Times New Roman"/>
              </a:rPr>
              <a:t>cancel_turn = false. Vượt deadline thì đóng worker và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FFFFFF"/>
                </a:solidFill>
                <a:latin typeface="Times New Roman"/>
              </a:rPr>
              <a:t>ghi runtime.turn.failed — không giả lập “cancel thành công”.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66928" y="4434840"/>
            <a:ext cx="5577840" cy="1664208"/>
          </a:xfrm>
          <a:prstGeom prst="roundRect">
            <a:avLst>
              <a:gd name="adj" fmla="val 9000"/>
            </a:avLst>
          </a:prstGeom>
          <a:solidFill>
            <a:srgbClr val="FDECE0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Điểm mạnh: mức độ tuỳ biến rất sâu.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595959"/>
                </a:solidFill>
                <a:latin typeface="Times New Roman"/>
              </a:rPr>
              <a:t>Đánh đổi: bề mặt cấu hình lớn hơn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595959"/>
                </a:solidFill>
                <a:latin typeface="Times New Roman"/>
              </a:rPr>
              <a:t>và wire protocol còn pre-release churn</a:t>
            </a:r>
          </a:p>
          <a:p>
            <a:pPr algn="l">
              <a:spcAft>
                <a:spcPts val="200"/>
              </a:spcAft>
            </a:pPr>
            <a:r>
              <a:rPr sz="1800" b="1">
                <a:solidFill>
                  <a:srgbClr val="E97132"/>
                </a:solidFill>
                <a:latin typeface="Times New Roman"/>
              </a:rPr>
              <a:t>→ bắt buộc pin version.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Chọn OpenCode hay DSH cho việc gì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02920" y="1115568"/>
          <a:ext cx="11183110" cy="323697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208269"/>
                <a:gridCol w="2933275"/>
                <a:gridCol w="2933275"/>
                <a:gridCol w="2108291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Nhu cầu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OpenCode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DSH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Khuyến nghị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Custom frontend gọi programmatically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HTTP server, OpenAPI 3.1, SSE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SDK subprocess, JSON-RPC stdio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OpenCode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Cancel một turn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POST /session/:id/abort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SDK chưa có prompt-cancel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OpenCode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Worker Python / batch / eval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Gọi HTTP được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Python SDK trực tiếp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DSH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Custom composition sâu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Config / plugin được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Cordis profile/patch rất linh hoạt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DSH nếu cần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Maturity của embedded wire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HTTP API dễ tích hợp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SDK/wire còn churn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OpenCode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Model route chỉ có ở một runtime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Phụ thuộc auth đã kết nối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Phụ thuộc profile đã kết nối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Runtime có route thắng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4" name="Rounded Rectangle 123"/>
          <p:cNvSpPr/>
          <p:nvPr/>
        </p:nvSpPr>
        <p:spPr>
          <a:xfrm>
            <a:off x="502920" y="4617720"/>
            <a:ext cx="3611880" cy="896112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OpenCode primary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cho ToxAgent custom web / chat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4288536" y="4617720"/>
            <a:ext cx="3611880" cy="896112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DSH primary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khi model route chỉ có trong DSH profile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8074152" y="4617720"/>
            <a:ext cx="3611880" cy="896112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DSH worker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Times New Roman"/>
              </a:rPr>
              <a:t>cho batch experiment, replay, evaluation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02920" y="5650992"/>
            <a:ext cx="11183112" cy="56692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Cả hai chạy cùng một test suite — KHÔNG gọi cả hai để ensemble mọi câu trả lời.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Hai lớp model không được nhầm lẫn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48640" y="1097280"/>
            <a:ext cx="11091672" cy="713232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OpenCode và DSH KHÔNG phải nguồn LLM budget — chúng là runtime.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48640" y="2029968"/>
            <a:ext cx="5394960" cy="2103120"/>
          </a:xfrm>
          <a:prstGeom prst="roundRect">
            <a:avLst>
              <a:gd name="adj" fmla="val 9000"/>
            </a:avLst>
          </a:prstGeom>
          <a:solidFill>
            <a:srgbClr val="E7EFF7"/>
          </a:solidFill>
          <a:ln w="254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77240" y="2212848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Times New Roman"/>
              </a:rPr>
              <a:t>LỚP 1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77240" y="2542032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156082"/>
                </a:solidFill>
                <a:latin typeface="Times New Roman"/>
              </a:rPr>
              <a:t>ToxAgent scientific models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77240" y="3090672"/>
            <a:ext cx="493776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Model dự đoán độc tính của dự án.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Chạy deterministic — không phải LLM.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Tài sản khoa học: versioned, reproducible.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45352" y="2029968"/>
            <a:ext cx="5394960" cy="2103120"/>
          </a:xfrm>
          <a:prstGeom prst="roundRect">
            <a:avLst>
              <a:gd name="adj" fmla="val 9000"/>
            </a:avLst>
          </a:prstGeom>
          <a:solidFill>
            <a:srgbClr val="FDECE0"/>
          </a:solidFill>
          <a:ln w="254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73952" y="2212848"/>
            <a:ext cx="493776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Times New Roman"/>
              </a:rPr>
              <a:t>LỚP 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73952" y="2542032"/>
            <a:ext cx="493776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E97132"/>
                </a:solidFill>
                <a:latin typeface="Times New Roman"/>
              </a:rPr>
              <a:t>OpenCode / DSH model route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473952" y="3090672"/>
            <a:ext cx="493776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LLM để hiểu câu hỏi, chọn tool, viết câu trả lời.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Budget thực tế nằm ở provider phía sau runtime,</a:t>
            </a:r>
          </a:p>
          <a:p>
            <a:pPr algn="l">
              <a:spcAft>
                <a:spcPts val="3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không nằm ở runtime.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8640" y="4343400"/>
            <a:ext cx="11091672" cy="178308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Hệ quả vận hành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• KHÔNG chuyển credential / OAuth token từ OpenCode hay DSH sang code ToxAgent.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• Mỗi runtime tiếp tục sở hữu credential, refresh và wire protocol của nó.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• Nếu budget đến từ subscription cá nhân → chỉ local dev và internal eval,</a:t>
            </a:r>
          </a:p>
          <a:p>
            <a:pPr algn="l">
              <a:spcAft>
                <a:spcPts val="200"/>
              </a:spcAft>
            </a:pPr>
            <a:r>
              <a:rPr sz="1800" b="0">
                <a:solidFill>
                  <a:srgbClr val="FFFFFF"/>
                </a:solidFill>
                <a:latin typeface="Times New Roman"/>
              </a:rPr>
              <a:t>   cho tới khi điều khoản provider xác nhận backend automation được phép.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Mười nguyên tắc thiết kế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66928" y="1188720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685800" y="1335024"/>
            <a:ext cx="548640" cy="54864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353312" y="1389888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Khoa học là hạt nhân, không phải plugin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181344" y="1188720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6300216" y="1335024"/>
            <a:ext cx="548640" cy="548640"/>
          </a:xfrm>
          <a:prstGeom prst="roundRect">
            <a:avLst>
              <a:gd name="adj" fmla="val 9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967728" y="1389888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Hai làn, một kernel — làn A không LLM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66928" y="2157984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685800" y="2304288"/>
            <a:ext cx="548640" cy="548640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353312" y="2359152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Enforcement nằm ngoài prompt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181344" y="2157984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6300216" y="2304288"/>
            <a:ext cx="548640" cy="548640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967728" y="2359152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State là source of truth, event chỉ là feed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566928" y="3127248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685800" y="3273552"/>
            <a:ext cx="548640" cy="54864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53312" y="3328416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Mọi con số phải truy nguyên được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181344" y="3127248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9" name="Rounded Rectangle 138"/>
          <p:cNvSpPr/>
          <p:nvPr/>
        </p:nvSpPr>
        <p:spPr>
          <a:xfrm>
            <a:off x="6300216" y="3273552"/>
            <a:ext cx="548640" cy="54864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967728" y="3328416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Model chỉ nhìn thấy projection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66928" y="4096512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2" name="Rounded Rectangle 141"/>
          <p:cNvSpPr/>
          <p:nvPr/>
        </p:nvSpPr>
        <p:spPr>
          <a:xfrm>
            <a:off x="685800" y="4242816"/>
            <a:ext cx="548640" cy="548640"/>
          </a:xfrm>
          <a:prstGeom prst="roundRect">
            <a:avLst>
              <a:gd name="adj" fmla="val 9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353312" y="4297680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Tool surface nhỏ và có capability profile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181344" y="4096512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6300216" y="4242816"/>
            <a:ext cx="548640" cy="548640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8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967728" y="4297680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Runtime là thứ thay thế được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66928" y="5065776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8" name="Rounded Rectangle 147"/>
          <p:cNvSpPr/>
          <p:nvPr/>
        </p:nvSpPr>
        <p:spPr>
          <a:xfrm>
            <a:off x="685800" y="5212080"/>
            <a:ext cx="548640" cy="548640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9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353312" y="5266944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Mọi thứ đều versioned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181344" y="5065776"/>
            <a:ext cx="5440680" cy="84124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6300216" y="5212080"/>
            <a:ext cx="548640" cy="54864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967728" y="5266944"/>
            <a:ext cx="452628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Fail loud, không fallback âm thầm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0" y="2148840"/>
            <a:ext cx="12191695" cy="1737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822960" y="2286000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FC5E8"/>
                </a:solidFill>
                <a:latin typeface="Times New Roman"/>
              </a:rPr>
              <a:t>PHẦN 2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2724912"/>
            <a:ext cx="11091672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imes New Roman"/>
              </a:rPr>
              <a:t>ToxAgent hôm nay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05840" y="4114800"/>
            <a:ext cx="10177272" cy="1005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595959"/>
                </a:solidFill>
                <a:latin typeface="Times New Roman"/>
              </a:rPr>
              <a:t>Sáu sản phẩm trong một repo, bảy chẩn đoán kiến trúc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ToxAgent không phải “một agent” — đang chứa sáu sản phẩm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66928" y="1170432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566928" y="1170432"/>
            <a:ext cx="118872" cy="107899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1247" y="1316736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2841"/>
                </a:solidFill>
                <a:latin typeface="Times New Roman"/>
              </a:rPr>
              <a:t>ML inference platform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41247" y="1773936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Nhiều backend/model, ensemble, binary toxicity, Tox21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181344" y="1170432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6181344" y="1170432"/>
            <a:ext cx="118872" cy="107899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455664" y="1316736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2841"/>
                </a:solidFill>
                <a:latin typeface="Times New Roman"/>
              </a:rPr>
              <a:t>Scientific analysis API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455664" y="1773936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/predict, /explain, /analyze, batch, OOD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66928" y="237744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66928" y="2377440"/>
            <a:ext cx="118872" cy="107899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41247" y="2523744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2841"/>
                </a:solidFill>
                <a:latin typeface="Times New Roman"/>
              </a:rPr>
              <a:t>Compound input utilities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41247" y="2980944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SMILES validation, canonicalization, image-to-SMILES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81344" y="2377440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6181344" y="2377440"/>
            <a:ext cx="118872" cy="107899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455664" y="2523744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2841"/>
                </a:solidFill>
                <a:latin typeface="Times New Roman"/>
              </a:rPr>
              <a:t>Evidence platform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455664" y="2980944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PubChem, PubMed, Europe PMC, Semantic Scholar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66928" y="3584448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66928" y="3584448"/>
            <a:ext cx="118872" cy="1078992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841247" y="3730752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2841"/>
                </a:solidFill>
                <a:latin typeface="Times New Roman"/>
              </a:rPr>
              <a:t>MolRAG / read-across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41247" y="4187952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Fingerprint, similar-molecule retrieval, fusion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6181344" y="3584448"/>
            <a:ext cx="5440680" cy="10789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181344" y="3584448"/>
            <a:ext cx="118872" cy="1078992"/>
          </a:xfrm>
          <a:prstGeom prst="rect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6455664" y="3730752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2841"/>
                </a:solidFill>
                <a:latin typeface="Times New Roman"/>
              </a:rPr>
              <a:t>Report application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55664" y="4187952"/>
            <a:ext cx="50292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Report projection, evidence QA, grounded chat, export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566928" y="4846320"/>
            <a:ext cx="11055096" cy="12984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Vấn đề không phải thiếu feature.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9FC5E8"/>
                </a:solidFill>
                <a:latin typeface="Times New Roman"/>
              </a:rPr>
              <a:t>Sáu sản phẩm này chưa có boundary rõ — nên model server đồng thời làm API, model registry,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9FC5E8"/>
                </a:solidFill>
                <a:latin typeface="Times New Roman"/>
              </a:rPr>
              <a:t>workflow engine, chat harness, tool dispatcher, state recovery, rendering và SSE.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Bảy chẩn đoán — đo trên code hôm nay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66928" y="1115568"/>
            <a:ext cx="2560320" cy="13716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8368" y="1225295"/>
            <a:ext cx="2377439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C00000"/>
                </a:solidFill>
                <a:latin typeface="Times New Roman"/>
              </a:rPr>
              <a:t>6.000+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58368" y="1901952"/>
            <a:ext cx="2377439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dòng trong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model_server/main.py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401568" y="1115568"/>
            <a:ext cx="2560320" cy="13716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493008" y="1225295"/>
            <a:ext cx="2377439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E97132"/>
                </a:solidFill>
                <a:latin typeface="Times New Roman"/>
              </a:rPr>
              <a:t>2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93008" y="1901952"/>
            <a:ext cx="2377439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runtime chồng nhau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ADK + deterministic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236208" y="1115568"/>
            <a:ext cx="2560320" cy="13716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6327648" y="1225295"/>
            <a:ext cx="2377439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C00000"/>
                </a:solidFill>
                <a:latin typeface="Times New Roman"/>
              </a:rPr>
              <a:t>0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327648" y="1901952"/>
            <a:ext cx="2377439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bản ghi bền vững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sau khi process restart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9070848" y="1115568"/>
            <a:ext cx="2560320" cy="13716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62288" y="1225295"/>
            <a:ext cx="2377439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E97132"/>
                </a:solidFill>
                <a:latin typeface="Times New Roman"/>
              </a:rPr>
              <a:t>len//4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62288" y="1901952"/>
            <a:ext cx="2377439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cách đang ước lượng</a:t>
            </a:r>
          </a:p>
          <a:p>
            <a:pPr algn="ctr">
              <a:spcAft>
                <a:spcPts val="1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token cho quyết định cắt</a:t>
            </a:r>
          </a:p>
        </p:txBody>
      </p:sp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66928" y="2697480"/>
          <a:ext cx="11055094" cy="305409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53077"/>
                <a:gridCol w="3987083"/>
                <a:gridCol w="6614934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#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Chẩn đoán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Biểu hiện trong code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God module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main.py vừa load model, vừa route, vừa chat, vừa render, vừa SSE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2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“Agent layer” thực ra là workflow stage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Screening / Researcher / EvidenceQA / Writer là hàm deterministic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3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Hai runtime chồng lên nhau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adk_available, runtime_mode, state_keys lộ ra public response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4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Chat state không bền vững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_SESSION_STORE in-memory + client gửi lại report_state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5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Tool plane chưa là một plane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dispatch if/elif; tool gọi HTTP ngược vào chính process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6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Context sửa ở sai tầng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chuỗi phẳng, cắt theo ký tự, vá lỗi bằng hậu xử lý chuỗi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7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Drift giữa code, config và docs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workspace_mode.yaml, README và docs không đồng thuận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6" name="Rounded Rectangle 135"/>
          <p:cNvSpPr/>
          <p:nvPr/>
        </p:nvSpPr>
        <p:spPr>
          <a:xfrm>
            <a:off x="566928" y="5852160"/>
            <a:ext cx="11055096" cy="438912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Thêm một harness mới trực tiếp vào file này sẽ tạo lớp orchestration thứ ba.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“Agent” trong ToxAgent thực ra là workflow stage</a:t>
            </a:r>
          </a:p>
        </p:txBody>
      </p:sp>
      <p:pic>
        <p:nvPicPr>
          <p:cNvPr id="123" name="Picture 122" descr="pipelin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34440"/>
            <a:ext cx="5806440" cy="2855936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24" name="TextBox 123"/>
          <p:cNvSpPr txBox="1"/>
          <p:nvPr/>
        </p:nvSpPr>
        <p:spPr>
          <a:xfrm>
            <a:off x="566928" y="4224528"/>
            <a:ext cx="580644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Ảnh chụp UI ToxAgent v0.0.6 — pipeline hiện tại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6629400" y="1170432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6784848" y="1261872"/>
            <a:ext cx="4718304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E2841"/>
                </a:solidFill>
                <a:latin typeface="Times New Roman"/>
              </a:rPr>
              <a:t>ScreeningAgent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784848" y="1609344"/>
            <a:ext cx="4718304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gọi analysis + optional MolRAG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629400" y="2066543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6784848" y="2157984"/>
            <a:ext cx="4718304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E2841"/>
                </a:solidFill>
                <a:latin typeface="Times New Roman"/>
              </a:rPr>
              <a:t>ResearcherAgent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784848" y="2505456"/>
            <a:ext cx="4718304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chạy các provider lookup / search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629400" y="2962656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784848" y="3054096"/>
            <a:ext cx="4718304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E2841"/>
                </a:solidFill>
                <a:latin typeface="Times New Roman"/>
              </a:rPr>
              <a:t>EvidenceQAAgent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784848" y="3401568"/>
            <a:ext cx="4718304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dedupe, chấm relevance, gắn cờ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629400" y="3858768"/>
            <a:ext cx="5029200" cy="786384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6784848" y="3950207"/>
            <a:ext cx="4718304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0E2841"/>
                </a:solidFill>
                <a:latin typeface="Times New Roman"/>
              </a:rPr>
              <a:t>WriterAgent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784848" y="4297679"/>
            <a:ext cx="4718304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chiếu state thành report có cấu trúc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6629400" y="4828032"/>
            <a:ext cx="5029200" cy="12984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Không cần identity, memory và agent loop riêng.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FC5E8"/>
                </a:solidFill>
                <a:latin typeface="Times New Roman"/>
              </a:rPr>
              <a:t>Giữ chúng dưới dạng agent làm tăng prompt/runtime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9FC5E8"/>
                </a:solidFill>
                <a:latin typeface="Times New Roman"/>
              </a:rPr>
              <a:t>surface nhưng không tạo thêm autonomy hữu ích.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Đối chiếu: ToxAgent đang đặt bảy trách nhiệm ở đâu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02920" y="1143000"/>
          <a:ext cx="11183111" cy="394106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024940"/>
                <a:gridCol w="4216583"/>
                <a:gridCol w="3941588"/>
              </a:tblGrid>
              <a:tr h="4206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Trách nhiệm harness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ToxAgent hiện tại đặt ở đâu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Hệ quả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Agent loop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ADK + nhánh deterministic fallback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Hai runtime semantics cho cùng use case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Tool plane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if/elif trong main.py; tool tự gọi HTTP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lifecycle, không typed error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Context management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chuỗi phẳng, cắt ký tự, len//4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Mất anchor bằng chứng, không kiểm soát budget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State &amp; persistence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_SESSION_STORE + client rehydration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chịu được restart hay multi-instance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Policy &amp; enforcement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phần lớn nằm trong prompt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cưỡng chế được, không audit được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Lifecycle &amp; observability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rải rác, không thống nhất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đo được cost/latency theo tool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Interface &amp; streaming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SSE sinh trực tiếp từ call stack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Mất event là mất trạng thái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4" name="Rounded Rectangle 123"/>
          <p:cNvSpPr/>
          <p:nvPr/>
        </p:nvSpPr>
        <p:spPr>
          <a:xfrm>
            <a:off x="502920" y="5257800"/>
            <a:ext cx="11183112" cy="896112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Mỗi chẩn đoán ở trên là một trong bảy trách nhiệm đang bị thiếu hoặc đặt sai chỗ —</a:t>
            </a:r>
          </a:p>
          <a:p>
            <a:pPr algn="ctr">
              <a:spcAft>
                <a:spcPts val="200"/>
              </a:spcAft>
            </a:pPr>
            <a:r>
              <a:rPr sz="2000" b="1">
                <a:solidFill>
                  <a:srgbClr val="9FC5E8"/>
                </a:solidFill>
                <a:latin typeface="Times New Roman"/>
              </a:rPr>
              <a:t>không phải bảy lỗi rời rạc.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0" y="2148840"/>
            <a:ext cx="12191695" cy="1737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822960" y="2286000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FC5E8"/>
                </a:solidFill>
                <a:latin typeface="Times New Roman"/>
              </a:rPr>
              <a:t>PHẦN 3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2724912"/>
            <a:ext cx="11091672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imes New Roman"/>
              </a:rPr>
              <a:t>Giữ gì, xoá gì — và kiến trúc đích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05840" y="4114800"/>
            <a:ext cx="10177272" cy="1005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595959"/>
                </a:solidFill>
                <a:latin typeface="Times New Roman"/>
              </a:rPr>
              <a:t>Ranh giới giữa tài sản khoa học và nợ kiến trúc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Bốn loại quyết định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66928" y="1115568"/>
            <a:ext cx="5440680" cy="24505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566928" y="1115568"/>
            <a:ext cx="5440680" cy="475488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GIỮ CONTRACT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49808" y="1664207"/>
            <a:ext cx="50749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Bên ngoài tiếp tục thấy hành vi tương thích; bên trong vẫn được refactor.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49808" y="2157984"/>
            <a:ext cx="5074920" cy="13533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/predict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/analyze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/explain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Clinical + Tox21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OOD assessment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6181344" y="1115568"/>
            <a:ext cx="5440680" cy="24505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6181344" y="1115568"/>
            <a:ext cx="5440680" cy="475488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GIỮ LOGIC, BỌC LẠI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364224" y="1664207"/>
            <a:ext cx="50749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Thuật toán còn đúng nhưng module/API hiện tại không còn là boundary.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364224" y="2157984"/>
            <a:ext cx="5074920" cy="13533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RDKit canonicalization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PubChem/PubMed providers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MolRAG retrieval + fusion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Evidence QA → validator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Writer → ReportBuilder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566928" y="3657600"/>
            <a:ext cx="5440680" cy="24505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566928" y="3657600"/>
            <a:ext cx="5440680" cy="47548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VIẾT MỚI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49808" y="4206240"/>
            <a:ext cx="50749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Không cố cứu kiến trúc runtime cũ; chỉ viết adapter migration khi cần.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749808" y="4700016"/>
            <a:ext cx="5074920" cy="13533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Session/message/part store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Tool registry + runner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Context assembler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AgentRuntimeGateway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Unified SSE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181344" y="3657600"/>
            <a:ext cx="5440680" cy="245059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6181344" y="3657600"/>
            <a:ext cx="5440680" cy="475488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XOÁ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364224" y="4206240"/>
            <a:ext cx="507492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0">
                <a:solidFill>
                  <a:srgbClr val="595959"/>
                </a:solidFill>
                <a:latin typeface="Times New Roman"/>
              </a:rPr>
              <a:t>Không mang pattern hoặc contract này sang kiến trúc đích.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364224" y="4700016"/>
            <a:ext cx="5074920" cy="135331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ADK declarations + compat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_SESSION_STORE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report_state rehydration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planner if/elif + normalizers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Self-HTTP trong cùng process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Vì sao ranh giới phải là /analyze, không phải /predict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66928" y="1115568"/>
            <a:ext cx="5394960" cy="566928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NẾU CHỈ GIỮ /predict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" y="1810512"/>
            <a:ext cx="5166360" cy="2331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Harness mới sẽ phải TỰ ghép: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clinical prediction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Tox21 mechanism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threshold / calibration policy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OOD gating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explanation gating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phép tổng hợp tạo final_verdict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66928" y="4224528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→ Logic khoa học rơi vào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orchestration KHÔNG xác định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245352" y="1115568"/>
            <a:ext cx="5394960" cy="566928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GIỮ /analyze LÀM BOUNDARY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64224" y="1810512"/>
            <a:ext cx="5166360" cy="2331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Một SMILES → một AnalysisResult đầy đủ: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reproducible, versioned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canonical SMILES + model hash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threshold policy version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OOD status bắt buộc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correlation / run ID</a:t>
            </a: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0E2841"/>
                </a:solidFill>
                <a:latin typeface="Times New Roman"/>
              </a:rPr>
              <a:t>• benchmark bám vào một contract duy nhất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245352" y="4224528"/>
            <a:ext cx="5394960" cy="960120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→ Scientific kernel là</a:t>
            </a:r>
          </a:p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một application service in-process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66928" y="5394960"/>
            <a:ext cx="11073384" cy="73152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/analyze đóng gói nhiều scientific invariant nhất — nên nó là ranh giới của kernel.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Kiến trúc đích: hai làn, một scientific kernel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2920" y="1188720"/>
            <a:ext cx="2240280" cy="56692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Web UI / API client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02920" y="1901952"/>
            <a:ext cx="2240280" cy="56692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FastAPI + identity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02920" y="2615184"/>
            <a:ext cx="2240280" cy="100584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Deterministic</a:t>
            </a:r>
          </a:p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lane router</a:t>
            </a:r>
          </a:p>
        </p:txBody>
      </p:sp>
      <p:sp>
        <p:nvSpPr>
          <p:cNvPr id="126" name="Down Arrow 125"/>
          <p:cNvSpPr/>
          <p:nvPr/>
        </p:nvSpPr>
        <p:spPr>
          <a:xfrm>
            <a:off x="1481328" y="1773936"/>
            <a:ext cx="274320" cy="109728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Down Arrow 126"/>
          <p:cNvSpPr/>
          <p:nvPr/>
        </p:nvSpPr>
        <p:spPr>
          <a:xfrm>
            <a:off x="1481328" y="2487168"/>
            <a:ext cx="274320" cy="109728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3063240" y="1188720"/>
            <a:ext cx="3931920" cy="1874519"/>
          </a:xfrm>
          <a:prstGeom prst="roundRect">
            <a:avLst>
              <a:gd name="adj" fmla="val 9000"/>
            </a:avLst>
          </a:prstGeom>
          <a:solidFill>
            <a:srgbClr val="E4F0E5"/>
          </a:solidFill>
          <a:ln w="2222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3200400" y="1298448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196B24"/>
                </a:solidFill>
                <a:latin typeface="Times New Roman"/>
              </a:rPr>
              <a:t>LÀN A — deterministic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200400" y="1700784"/>
            <a:ext cx="3657600" cy="12801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0E2841"/>
                </a:solidFill>
                <a:latin typeface="Times New Roman"/>
              </a:rPr>
              <a:t>• analysis · batch · benchmark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C00000"/>
                </a:solidFill>
                <a:latin typeface="Times New Roman"/>
              </a:rPr>
              <a:t>• KHÔNG gọi LLM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E2841"/>
                </a:solidFill>
                <a:latin typeface="Times New Roman"/>
              </a:rPr>
              <a:t>• nền để audit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E2841"/>
                </a:solidFill>
                <a:latin typeface="Times New Roman"/>
              </a:rPr>
              <a:t>• ReportBuilder deterministic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3063240" y="3218688"/>
            <a:ext cx="3931920" cy="2148840"/>
          </a:xfrm>
          <a:prstGeom prst="roundRect">
            <a:avLst>
              <a:gd name="adj" fmla="val 9000"/>
            </a:avLst>
          </a:prstGeom>
          <a:solidFill>
            <a:srgbClr val="FDECE0"/>
          </a:solidFill>
          <a:ln w="222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200400" y="3328416"/>
            <a:ext cx="36576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97132"/>
                </a:solidFill>
                <a:latin typeface="Times New Roman"/>
              </a:rPr>
              <a:t>LÀN B — agent runtime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3200400" y="3730752"/>
            <a:ext cx="3657600" cy="1554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0E2841"/>
                </a:solidFill>
                <a:latin typeface="Times New Roman"/>
              </a:rPr>
              <a:t>• context assembler + budget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E2841"/>
                </a:solidFill>
                <a:latin typeface="Times New Roman"/>
              </a:rPr>
              <a:t>• model adapter</a:t>
            </a:r>
          </a:p>
          <a:p>
            <a:pPr algn="l">
              <a:spcAft>
                <a:spcPts val="300"/>
              </a:spcAft>
            </a:pPr>
            <a:r>
              <a:rPr sz="1500" b="0">
                <a:solidFill>
                  <a:srgbClr val="0E2841"/>
                </a:solidFill>
                <a:latin typeface="Times New Roman"/>
              </a:rPr>
              <a:t>• tool runner + capability filter</a:t>
            </a:r>
          </a:p>
          <a:p>
            <a:pPr algn="l">
              <a:spcAft>
                <a:spcPts val="300"/>
              </a:spcAft>
            </a:pPr>
            <a:r>
              <a:rPr sz="1500" b="1">
                <a:solidFill>
                  <a:srgbClr val="E97132"/>
                </a:solidFill>
                <a:latin typeface="Times New Roman"/>
              </a:rPr>
              <a:t>• loop do OpenCode / DSH cấp</a:t>
            </a:r>
          </a:p>
        </p:txBody>
      </p:sp>
      <p:sp>
        <p:nvSpPr>
          <p:cNvPr id="134" name="Right Arrow 133"/>
          <p:cNvSpPr/>
          <p:nvPr/>
        </p:nvSpPr>
        <p:spPr>
          <a:xfrm>
            <a:off x="2779776" y="2761488"/>
            <a:ext cx="256032" cy="237744"/>
          </a:xfrm>
          <a:prstGeom prst="rightArrow">
            <a:avLst/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ight Arrow 134"/>
          <p:cNvSpPr/>
          <p:nvPr/>
        </p:nvSpPr>
        <p:spPr>
          <a:xfrm>
            <a:off x="2779776" y="3310128"/>
            <a:ext cx="256032" cy="237744"/>
          </a:xfrm>
          <a:prstGeom prst="rightArrow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7315200" y="1188720"/>
            <a:ext cx="4370832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7461504" y="1280160"/>
            <a:ext cx="4078224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Scientific kernel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7461504" y="1664208"/>
            <a:ext cx="4078224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SMILES · model registry · threshold · OOD · verdict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7315200" y="2212848"/>
            <a:ext cx="4370832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7461504" y="2304288"/>
            <a:ext cx="4078224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Research + MolRAG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61504" y="2688336"/>
            <a:ext cx="4078224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PubChem · PubMed · analog retrieval · knowledge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315200" y="3236976"/>
            <a:ext cx="4370832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461504" y="3328416"/>
            <a:ext cx="4078224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Observation store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7461504" y="3712464"/>
            <a:ext cx="4078224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typed result · projection · provenance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7315200" y="4261104"/>
            <a:ext cx="4370832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461504" y="4352544"/>
            <a:ext cx="4078224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Session / message / part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461504" y="4736592"/>
            <a:ext cx="4078224" cy="347472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durable state · checkpoint · change feed</a:t>
            </a:r>
          </a:p>
        </p:txBody>
      </p:sp>
      <p:sp>
        <p:nvSpPr>
          <p:cNvPr id="148" name="Right Arrow 147"/>
          <p:cNvSpPr/>
          <p:nvPr/>
        </p:nvSpPr>
        <p:spPr>
          <a:xfrm>
            <a:off x="7031736" y="1920240"/>
            <a:ext cx="256032" cy="237744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ight Arrow 148"/>
          <p:cNvSpPr/>
          <p:nvPr/>
        </p:nvSpPr>
        <p:spPr>
          <a:xfrm>
            <a:off x="7031736" y="4133087"/>
            <a:ext cx="256032" cy="237744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7315200" y="5285232"/>
            <a:ext cx="4370832" cy="50292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→ SSE ra UI (reconnectable)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02920" y="4041648"/>
            <a:ext cx="2240280" cy="144475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621792" y="4133087"/>
            <a:ext cx="2011680" cy="12984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50" b="1">
                <a:solidFill>
                  <a:srgbClr val="156082"/>
                </a:solidFill>
                <a:latin typeface="Times New Roman"/>
              </a:rPr>
              <a:t>Router quyết định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E2841"/>
                </a:solidFill>
                <a:latin typeface="Times New Roman"/>
              </a:rPr>
              <a:t>• analysis, batch → A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E2841"/>
                </a:solidFill>
                <a:latin typeface="Times New Roman"/>
              </a:rPr>
              <a:t>• follow-up → B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0E2841"/>
                </a:solidFill>
                <a:latin typeface="Times New Roman"/>
              </a:rPr>
              <a:t>• thiếu input → hỏi lại</a:t>
            </a:r>
          </a:p>
          <a:p>
            <a:pPr algn="l">
              <a:spcAft>
                <a:spcPts val="300"/>
              </a:spcAft>
            </a:pPr>
            <a:r>
              <a:rPr sz="1250" b="1">
                <a:solidFill>
                  <a:srgbClr val="C00000"/>
                </a:solidFill>
                <a:latin typeface="Times New Roman"/>
              </a:rPr>
              <a:t>Model KHÔNG tự chọn làn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502920" y="5614416"/>
            <a:ext cx="6492240" cy="64008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Modular monolith — không phải microservices bắt buộc.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Tool plane: 9 tool, lọc theo capability profile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2920" y="1143000"/>
            <a:ext cx="3675887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49224" y="123444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2841"/>
                </a:solidFill>
                <a:latin typeface="Consolas"/>
              </a:rPr>
              <a:t>resolve_molecule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49224" y="1636776"/>
            <a:ext cx="3401568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tên / SMILES / ảnh → canonical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4288536" y="1143000"/>
            <a:ext cx="3675887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434840" y="123444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2841"/>
                </a:solidFill>
                <a:latin typeface="Consolas"/>
              </a:rPr>
              <a:t>run_toxicity_analysis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434840" y="1636776"/>
            <a:ext cx="3401568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chạy analysis deterministic đầy đủ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8074151" y="1143000"/>
            <a:ext cx="3675887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8220455" y="123444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2841"/>
                </a:solidFill>
                <a:latin typeface="Consolas"/>
              </a:rPr>
              <a:t>get_report_section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20455" y="1636776"/>
            <a:ext cx="3401568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projection nhỏ của report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02920" y="2148840"/>
            <a:ext cx="3675887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649224" y="224028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2841"/>
                </a:solidFill>
                <a:latin typeface="Consolas"/>
              </a:rPr>
              <a:t>lookup_compound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49224" y="2642616"/>
            <a:ext cx="3401568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metadata từ PubChem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288536" y="2148840"/>
            <a:ext cx="3675887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434840" y="224028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2841"/>
                </a:solidFill>
                <a:latin typeface="Consolas"/>
              </a:rPr>
              <a:t>search_toxicology_literature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434840" y="2642616"/>
            <a:ext cx="3401568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tìm evidence có cấu trúc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8074151" y="2148840"/>
            <a:ext cx="3675887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220455" y="224028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2841"/>
                </a:solidFill>
                <a:latin typeface="Consolas"/>
              </a:rPr>
              <a:t>get_article_detail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20455" y="2642616"/>
            <a:ext cx="3401568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abstract / metadata bài đã chọn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502920" y="3154680"/>
            <a:ext cx="3675887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49224" y="324612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2841"/>
                </a:solidFill>
                <a:latin typeface="Consolas"/>
              </a:rPr>
              <a:t>find_similar_molecules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49224" y="3648456"/>
            <a:ext cx="3401568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analog / read-across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4288536" y="3154680"/>
            <a:ext cx="3675887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434840" y="324612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2841"/>
                </a:solidFill>
                <a:latin typeface="Consolas"/>
              </a:rPr>
              <a:t>lookup_structural_alerts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434840" y="3648456"/>
            <a:ext cx="3401568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alert đã chuẩn hoá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074151" y="3154680"/>
            <a:ext cx="3675887" cy="89611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8220455" y="3246120"/>
            <a:ext cx="3401568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E2841"/>
                </a:solidFill>
                <a:latin typeface="Consolas"/>
              </a:rPr>
              <a:t>explain_mechanism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220455" y="3648456"/>
            <a:ext cx="3401568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  <a:latin typeface="Times New Roman"/>
              </a:rPr>
              <a:t>context cơ chế theo endpoint</a:t>
            </a:r>
          </a:p>
        </p:txBody>
      </p:sp>
      <p:graphicFrame>
        <p:nvGraphicFramePr>
          <p:cNvPr id="150" name="Table 149"/>
          <p:cNvGraphicFramePr>
            <a:graphicFrameLocks noGrp="1"/>
          </p:cNvGraphicFramePr>
          <p:nvPr/>
        </p:nvGraphicFramePr>
        <p:xfrm>
          <a:off x="502920" y="4224528"/>
          <a:ext cx="11183111" cy="142646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749945"/>
                <a:gridCol w="843316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Capability profile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Tool được thấy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analysis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resolve_molecule · run_toxicity_analysis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report_qa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get_report_section · article/evidence tools · analog · mechanism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literature_review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lookup_compound · search_literature · get_article_detail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read_across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get_report_section · analog · structural alert · mechanism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51" name="Rounded Rectangle 150"/>
          <p:cNvSpPr/>
          <p:nvPr/>
        </p:nvSpPr>
        <p:spPr>
          <a:xfrm>
            <a:off x="502920" y="5742432"/>
            <a:ext cx="11183112" cy="530352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Cấm tool phải làm CẢ HAI: loại schema khỏi prompt, VÀ chặn ở execution layer.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Rule, Hook và Skill — ba thứ không được lẫn nhau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2920" y="1115568"/>
            <a:ext cx="3611880" cy="43159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502920" y="1115568"/>
            <a:ext cx="3611880" cy="50292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RULE / POLICY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7512" y="1700784"/>
            <a:ext cx="3291840" cy="56692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Times New Roman"/>
              </a:rPr>
              <a:t>Quyết định deterministic phải LUÔN đúng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67512" y="2359152"/>
            <a:ext cx="3291840" cy="23774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Auth / ownership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Canonical SMILES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Lane routing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Allowed tool surface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Deadline / quota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Numeric provenance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Citation requirement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No raw blob in context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67512" y="4864608"/>
            <a:ext cx="329184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56082"/>
                </a:solidFill>
                <a:latin typeface="Times New Roman"/>
              </a:rPr>
              <a:t>Là code / config — không phải câu “hãy luôn…”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288536" y="1115568"/>
            <a:ext cx="3611880" cy="43159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4288536" y="1115568"/>
            <a:ext cx="3611880" cy="502920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HOOK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453128" y="1700784"/>
            <a:ext cx="3291840" cy="56692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Times New Roman"/>
              </a:rPr>
              <a:t>Điểm lifecycle nhỏ để quan sát / cưỡng chế / project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53128" y="2359152"/>
            <a:ext cx="3291840" cy="23774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on_request_admitted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before_model_call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after_model_call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before_tool_call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after_tool_call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before_compaction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before_turn_commit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on_run_failed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453128" y="4864608"/>
            <a:ext cx="329184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E97132"/>
                </a:solidFill>
                <a:latin typeface="Times New Roman"/>
              </a:rPr>
              <a:t>Fixed typed chain — không dynamic plugin graph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74152" y="1115568"/>
            <a:ext cx="3611880" cy="43159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8074152" y="1115568"/>
            <a:ext cx="3611880" cy="502920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SKILL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38744" y="1700784"/>
            <a:ext cx="3291840" cy="56692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595959"/>
                </a:solidFill>
                <a:latin typeface="Times New Roman"/>
              </a:rPr>
              <a:t>Playbook chuyên ngành, nạp theo nhu cầu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38744" y="2359152"/>
            <a:ext cx="3291840" cy="23774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interpret-clinical-risk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interpret-tox21-mechanisms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assess-herg-risk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assess-hepatotoxicity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interpret-ood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perform-read-across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review-toxicology-literature</a:t>
            </a:r>
          </a:p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write-toxicity-report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38744" y="4864608"/>
            <a:ext cx="329184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96B24"/>
                </a:solidFill>
                <a:latin typeface="Times New Roman"/>
              </a:rPr>
              <a:t>Procedural knowledge — KHÔNG cấp thêm quyền tool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02920" y="5559552"/>
            <a:ext cx="11183112" cy="713232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Skill khi model cần ÁP DỤNG tri thức. Hook/Rule khi hành động phải XẢY RA nhất quán.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State bền vững, compaction và provenance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1060704"/>
            <a:ext cx="548640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2841"/>
                </a:solidFill>
                <a:latin typeface="Times New Roman"/>
              </a:rPr>
              <a:t>Mô hình state — source of truth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02920" y="1517904"/>
            <a:ext cx="5486400" cy="731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58368" y="1591056"/>
            <a:ext cx="5175504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E2841"/>
                </a:solidFill>
                <a:latin typeface="Times New Roman"/>
              </a:rPr>
              <a:t>Session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58368" y="1920240"/>
            <a:ext cx="5175504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owner · status · active_analysis · context_epoch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502920" y="2340864"/>
            <a:ext cx="5486400" cy="731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58368" y="2414016"/>
            <a:ext cx="5175504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E2841"/>
                </a:solidFill>
                <a:latin typeface="Times New Roman"/>
              </a:rPr>
              <a:t>Message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58368" y="2743200"/>
            <a:ext cx="5175504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role · sequence · model · usage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02920" y="3163824"/>
            <a:ext cx="5486400" cy="731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8368" y="3236976"/>
            <a:ext cx="5175504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E2841"/>
                </a:solidFill>
                <a:latin typeface="Times New Roman"/>
              </a:rPr>
              <a:t>Part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58368" y="3566160"/>
            <a:ext cx="5175504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text | tool_call | tool_result | citation | error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502920" y="3986784"/>
            <a:ext cx="5486400" cy="731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658368" y="4059936"/>
            <a:ext cx="5175504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E2841"/>
                </a:solidFill>
                <a:latin typeface="Times New Roman"/>
              </a:rPr>
              <a:t>Observation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58368" y="4389120"/>
            <a:ext cx="5175504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payload_ref · model_projection · provenance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02920" y="4809744"/>
            <a:ext cx="5486400" cy="731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658368" y="4882896"/>
            <a:ext cx="5175504" cy="329184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0E2841"/>
                </a:solidFill>
                <a:latin typeface="Times New Roman"/>
              </a:rPr>
              <a:t>Checkpoint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8368" y="5212080"/>
            <a:ext cx="5175504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summary · pinned_observation_ids · token_count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502920" y="5669280"/>
            <a:ext cx="5486400" cy="56692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Times New Roman"/>
              </a:rPr>
              <a:t>Event chỉ là feed — không replay JSONL để dựng state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309360" y="1060704"/>
            <a:ext cx="5376672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2841"/>
                </a:solidFill>
                <a:latin typeface="Times New Roman"/>
              </a:rPr>
              <a:t>Chuỗi provenance của một con số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309360" y="1554480"/>
            <a:ext cx="5376672" cy="603504"/>
          </a:xfrm>
          <a:prstGeom prst="roundRect">
            <a:avLst>
              <a:gd name="adj" fmla="val 9000"/>
            </a:avLst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final numeric / scientific claim</a:t>
            </a:r>
          </a:p>
        </p:txBody>
      </p:sp>
      <p:sp>
        <p:nvSpPr>
          <p:cNvPr id="142" name="Down Arrow 141"/>
          <p:cNvSpPr/>
          <p:nvPr/>
        </p:nvSpPr>
        <p:spPr>
          <a:xfrm>
            <a:off x="8851392" y="2194560"/>
            <a:ext cx="292608" cy="201168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6309360" y="2468880"/>
            <a:ext cx="5376672" cy="603504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claim index / citation marker</a:t>
            </a:r>
          </a:p>
        </p:txBody>
      </p:sp>
      <p:sp>
        <p:nvSpPr>
          <p:cNvPr id="144" name="Down Arrow 143"/>
          <p:cNvSpPr/>
          <p:nvPr/>
        </p:nvSpPr>
        <p:spPr>
          <a:xfrm>
            <a:off x="8851392" y="3108960"/>
            <a:ext cx="292608" cy="201168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ounded Rectangle 144"/>
          <p:cNvSpPr/>
          <p:nvPr/>
        </p:nvSpPr>
        <p:spPr>
          <a:xfrm>
            <a:off x="6309360" y="3383280"/>
            <a:ext cx="5376672" cy="603504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observation_id + field path</a:t>
            </a:r>
          </a:p>
        </p:txBody>
      </p:sp>
      <p:sp>
        <p:nvSpPr>
          <p:cNvPr id="146" name="Down Arrow 145"/>
          <p:cNvSpPr/>
          <p:nvPr/>
        </p:nvSpPr>
        <p:spPr>
          <a:xfrm>
            <a:off x="8851392" y="4023360"/>
            <a:ext cx="292608" cy="201168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6309360" y="4297680"/>
            <a:ext cx="5376672" cy="603504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tool / model run + policy version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309360" y="4498848"/>
            <a:ext cx="5376672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Vi phạm → một lần regenerate có feedback typed.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Vẫn vi phạm → deterministic safe answer từ report</a:t>
            </a:r>
          </a:p>
          <a:p>
            <a:pPr algn="l">
              <a:spcAft>
                <a:spcPts val="3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projection, kèm warning.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309360" y="5669280"/>
            <a:ext cx="5376672" cy="56692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Times New Roman"/>
              </a:rPr>
              <a:t>Compaction giảm context — KHÔNG xoá audit history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0" y="2148840"/>
            <a:ext cx="12191695" cy="1737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822960" y="2286000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FC5E8"/>
                </a:solidFill>
                <a:latin typeface="Times New Roman"/>
              </a:rPr>
              <a:t>PHẦN 4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2724912"/>
            <a:ext cx="11091672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imes New Roman"/>
              </a:rPr>
              <a:t>Thuê agent loop từ OpenCode và DSH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05840" y="4114800"/>
            <a:ext cx="10177272" cy="1005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595959"/>
                </a:solidFill>
                <a:latin typeface="Times New Roman"/>
              </a:rPr>
              <a:t>ToxAgent sở hữu domain, tools, state và provenance — runtime cho thuê loop và đường tới LLM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Kiến trúc runtime-backed cho làn B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2920" y="1170432"/>
            <a:ext cx="2331720" cy="603504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ToxAgent UI / CLI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502920" y="1920240"/>
            <a:ext cx="2331720" cy="603504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ToxAgent API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02920" y="2670048"/>
            <a:ext cx="2331720" cy="73152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Times New Roman"/>
              </a:rPr>
              <a:t>Deterministic</a:t>
            </a:r>
          </a:p>
          <a:p>
            <a:pPr algn="ctr">
              <a:spcAft>
                <a:spcPts val="200"/>
              </a:spcAft>
            </a:pPr>
            <a:r>
              <a:rPr sz="1550" b="1">
                <a:solidFill>
                  <a:srgbClr val="FFFFFF"/>
                </a:solidFill>
                <a:latin typeface="Times New Roman"/>
              </a:rPr>
              <a:t>lane router</a:t>
            </a:r>
          </a:p>
        </p:txBody>
      </p:sp>
      <p:sp>
        <p:nvSpPr>
          <p:cNvPr id="126" name="Down Arrow 125"/>
          <p:cNvSpPr/>
          <p:nvPr/>
        </p:nvSpPr>
        <p:spPr>
          <a:xfrm>
            <a:off x="1517904" y="1792224"/>
            <a:ext cx="292608" cy="109728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Down Arrow 126"/>
          <p:cNvSpPr/>
          <p:nvPr/>
        </p:nvSpPr>
        <p:spPr>
          <a:xfrm>
            <a:off x="1517904" y="2542032"/>
            <a:ext cx="292608" cy="109728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ounded Rectangle 127"/>
          <p:cNvSpPr/>
          <p:nvPr/>
        </p:nvSpPr>
        <p:spPr>
          <a:xfrm>
            <a:off x="502920" y="3584448"/>
            <a:ext cx="2331720" cy="868680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Làn A</a:t>
            </a:r>
          </a:p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Times New Roman"/>
              </a:rPr>
              <a:t>Scientific service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3154680" y="2670048"/>
            <a:ext cx="2834640" cy="868680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AgentRuntimeGateway</a:t>
            </a:r>
          </a:p>
        </p:txBody>
      </p:sp>
      <p:sp>
        <p:nvSpPr>
          <p:cNvPr id="130" name="Right Arrow 129"/>
          <p:cNvSpPr/>
          <p:nvPr/>
        </p:nvSpPr>
        <p:spPr>
          <a:xfrm>
            <a:off x="2852928" y="2926080"/>
            <a:ext cx="274320" cy="274320"/>
          </a:xfrm>
          <a:prstGeom prst="rightArrow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ounded Rectangle 130"/>
          <p:cNvSpPr/>
          <p:nvPr/>
        </p:nvSpPr>
        <p:spPr>
          <a:xfrm>
            <a:off x="3154680" y="3840480"/>
            <a:ext cx="2834640" cy="777240"/>
          </a:xfrm>
          <a:prstGeom prst="roundRect">
            <a:avLst>
              <a:gd name="adj" fmla="val 9000"/>
            </a:avLst>
          </a:prstGeom>
          <a:solidFill>
            <a:srgbClr val="E7EFF7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0E2841"/>
                </a:solidFill>
                <a:latin typeface="Times New Roman"/>
              </a:rPr>
              <a:t>OpenCode adapter</a:t>
            </a:r>
          </a:p>
          <a:p>
            <a:pPr algn="ctr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HTTP + SSE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3154680" y="4754880"/>
            <a:ext cx="2834640" cy="777240"/>
          </a:xfrm>
          <a:prstGeom prst="roundRect">
            <a:avLst>
              <a:gd name="adj" fmla="val 9000"/>
            </a:avLst>
          </a:prstGeom>
          <a:solidFill>
            <a:srgbClr val="FDECE0"/>
          </a:solidFill>
          <a:ln w="1587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50" b="1">
                <a:solidFill>
                  <a:srgbClr val="0E2841"/>
                </a:solidFill>
                <a:latin typeface="Times New Roman"/>
              </a:rPr>
              <a:t>DSH adapter</a:t>
            </a:r>
          </a:p>
          <a:p>
            <a:pPr algn="ctr">
              <a:spcAft>
                <a:spcPts val="200"/>
              </a:spcAft>
            </a:pPr>
            <a:r>
              <a:rPr sz="1350" b="0">
                <a:solidFill>
                  <a:srgbClr val="595959"/>
                </a:solidFill>
                <a:latin typeface="Times New Roman"/>
              </a:rPr>
              <a:t>Python SDK · JSON-RPC stdio</a:t>
            </a:r>
          </a:p>
        </p:txBody>
      </p:sp>
      <p:sp>
        <p:nvSpPr>
          <p:cNvPr id="133" name="Down Arrow 132"/>
          <p:cNvSpPr/>
          <p:nvPr/>
        </p:nvSpPr>
        <p:spPr>
          <a:xfrm>
            <a:off x="4407408" y="3584448"/>
            <a:ext cx="292608" cy="201168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6309360" y="3840480"/>
            <a:ext cx="2468880" cy="77724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2841"/>
                </a:solidFill>
                <a:latin typeface="Times New Roman"/>
              </a:rPr>
              <a:t>Provider /</a:t>
            </a:r>
          </a:p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2841"/>
                </a:solidFill>
                <a:latin typeface="Times New Roman"/>
              </a:rPr>
              <a:t>model route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309360" y="4754880"/>
            <a:ext cx="2468880" cy="77724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2841"/>
                </a:solidFill>
                <a:latin typeface="Times New Roman"/>
              </a:rPr>
              <a:t>Provider /</a:t>
            </a:r>
          </a:p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2841"/>
                </a:solidFill>
                <a:latin typeface="Times New Roman"/>
              </a:rPr>
              <a:t>model route</a:t>
            </a:r>
          </a:p>
        </p:txBody>
      </p:sp>
      <p:sp>
        <p:nvSpPr>
          <p:cNvPr id="136" name="Right Arrow 135"/>
          <p:cNvSpPr/>
          <p:nvPr/>
        </p:nvSpPr>
        <p:spPr>
          <a:xfrm>
            <a:off x="6035040" y="4133087"/>
            <a:ext cx="237744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ight Arrow 136"/>
          <p:cNvSpPr/>
          <p:nvPr/>
        </p:nvSpPr>
        <p:spPr>
          <a:xfrm>
            <a:off x="6035040" y="5047488"/>
            <a:ext cx="237744" cy="201168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3154680" y="1170432"/>
            <a:ext cx="5623560" cy="1170432"/>
          </a:xfrm>
          <a:prstGeom prst="roundRect">
            <a:avLst>
              <a:gd name="adj" fmla="val 9000"/>
            </a:avLst>
          </a:prstGeom>
          <a:solidFill>
            <a:srgbClr val="E7EFF7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E2841"/>
                </a:solidFill>
                <a:latin typeface="Times New Roman"/>
              </a:rPr>
              <a:t>Cả hai adapter đăng ký CÙNG một ToxAgent MCP server</a:t>
            </a:r>
          </a:p>
          <a:p>
            <a:pPr algn="ctr">
              <a:spcAft>
                <a:spcPts val="200"/>
              </a:spcAft>
            </a:pPr>
            <a:r>
              <a:rPr sz="1500" b="0">
                <a:solidFill>
                  <a:srgbClr val="595959"/>
                </a:solidFill>
                <a:latin typeface="Times New Roman"/>
              </a:rPr>
              <a:t>→ cùng tool contract, cùng observation, bất kể runtime nào đang chạy</a:t>
            </a:r>
          </a:p>
        </p:txBody>
      </p:sp>
      <p:sp>
        <p:nvSpPr>
          <p:cNvPr id="139" name="Up Arrow 138"/>
          <p:cNvSpPr/>
          <p:nvPr/>
        </p:nvSpPr>
        <p:spPr>
          <a:xfrm>
            <a:off x="4434840" y="2395728"/>
            <a:ext cx="274320" cy="237744"/>
          </a:xfrm>
          <a:prstGeom prst="up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ight Arrow 139"/>
          <p:cNvSpPr/>
          <p:nvPr/>
        </p:nvSpPr>
        <p:spPr>
          <a:xfrm>
            <a:off x="8814816" y="1627632"/>
            <a:ext cx="237744" cy="237744"/>
          </a:xfrm>
          <a:prstGeom prst="rightArrow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9098280" y="1170432"/>
            <a:ext cx="2606040" cy="82296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ToxAgent</a:t>
            </a:r>
          </a:p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Times New Roman"/>
              </a:rPr>
              <a:t>MCP server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9098280" y="2176272"/>
            <a:ext cx="2606040" cy="71323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E2841"/>
                </a:solidFill>
                <a:latin typeface="Times New Roman"/>
              </a:rPr>
              <a:t>Scientific service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9098280" y="3035808"/>
            <a:ext cx="2606040" cy="71323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E2841"/>
                </a:solidFill>
                <a:latin typeface="Times New Roman"/>
              </a:rPr>
              <a:t>Research + MolRAG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9098280" y="3895344"/>
            <a:ext cx="2606040" cy="713232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1587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E2841"/>
                </a:solidFill>
                <a:latin typeface="Times New Roman"/>
              </a:rPr>
              <a:t>Observation store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9098280" y="4754880"/>
            <a:ext cx="2606040" cy="77724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Times New Roman"/>
              </a:rPr>
              <a:t>ToxAgent session /</a:t>
            </a:r>
          </a:p>
          <a:p>
            <a:pPr algn="ctr">
              <a:spcAft>
                <a:spcPts val="200"/>
              </a:spcAft>
            </a:pPr>
            <a:r>
              <a:rPr sz="1450" b="1">
                <a:solidFill>
                  <a:srgbClr val="FFFFFF"/>
                </a:solidFill>
                <a:latin typeface="Times New Roman"/>
              </a:rPr>
              <a:t>message / part store</a:t>
            </a:r>
          </a:p>
        </p:txBody>
      </p:sp>
      <p:sp>
        <p:nvSpPr>
          <p:cNvPr id="146" name="Down Arrow 145"/>
          <p:cNvSpPr/>
          <p:nvPr/>
        </p:nvSpPr>
        <p:spPr>
          <a:xfrm>
            <a:off x="10241280" y="2011680"/>
            <a:ext cx="292608" cy="128016"/>
          </a:xfrm>
          <a:prstGeom prst="down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ounded Rectangle 146"/>
          <p:cNvSpPr/>
          <p:nvPr/>
        </p:nvSpPr>
        <p:spPr>
          <a:xfrm>
            <a:off x="502920" y="5742432"/>
            <a:ext cx="11201400" cy="56692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ToxAgent giữ product session, observation, attachment và provenance — runtime chỉ giữ model context.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Ba mức tích hợp — làm theo thứ tự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2920" y="1143000"/>
            <a:ext cx="3611880" cy="4160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502920" y="1143000"/>
            <a:ext cx="3611880" cy="50292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MỨC A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67512" y="1737360"/>
            <a:ext cx="3291840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MCP-first, dùng UI của harness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67512" y="2514600"/>
            <a:ext cx="329184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Chưa cần sửa frontend ToxAgent</a:t>
            </a:r>
          </a:p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Chưa cần viết agent loop</a:t>
            </a:r>
          </a:p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So sánh ngay model nào gọi tool tốt hơn</a:t>
            </a:r>
          </a:p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Tool plane kiểm thử độc lập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67512" y="4663440"/>
            <a:ext cx="3291840" cy="56692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56082"/>
                </a:solidFill>
                <a:latin typeface="Times New Roman"/>
              </a:rPr>
              <a:t>→ developer workflow, internal demo, xây eval dataset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4288536" y="1143000"/>
            <a:ext cx="3611880" cy="4160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4288536" y="1143000"/>
            <a:ext cx="3611880" cy="502920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MỨC B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453127" y="1737360"/>
            <a:ext cx="3291840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Runtime gateway cho frontend ToxAgent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453127" y="2514600"/>
            <a:ext cx="329184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Map product session ↔ runtime session</a:t>
            </a:r>
          </a:p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Chọn và pin runtime + model route</a:t>
            </a:r>
          </a:p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Normalize external events</a:t>
            </a:r>
          </a:p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Commit final answer sau provenance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453127" y="4663440"/>
            <a:ext cx="3291840" cy="56692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E97132"/>
                </a:solidFill>
                <a:latin typeface="Times New Roman"/>
              </a:rPr>
              <a:t>→ kiến trúc mục tiêu khi cần giữ UI hiện tại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074151" y="1143000"/>
            <a:ext cx="3611880" cy="416052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4" name="Rounded Rectangle 133"/>
          <p:cNvSpPr/>
          <p:nvPr/>
        </p:nvSpPr>
        <p:spPr>
          <a:xfrm>
            <a:off x="8074151" y="1143000"/>
            <a:ext cx="3611880" cy="502920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MỨC C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38743" y="1737360"/>
            <a:ext cx="3291840" cy="685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0E2841"/>
                </a:solidFill>
                <a:latin typeface="Times New Roman"/>
              </a:rPr>
              <a:t>Direct LLM provider (tương lai)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38743" y="2514600"/>
            <a:ext cx="3291840" cy="2011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Thêm adapter thứ ba: DirectModelRuntime</a:t>
            </a:r>
          </a:p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Scientific kernel không đổi</a:t>
            </a:r>
          </a:p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MCP tools không đổi</a:t>
            </a:r>
          </a:p>
          <a:p>
            <a:pPr algn="l">
              <a:spcAft>
                <a:spcPts val="7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Frontend không đổi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238743" y="4663440"/>
            <a:ext cx="3291840" cy="56692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196B24"/>
                </a:solidFill>
                <a:latin typeface="Times New Roman"/>
              </a:rPr>
              <a:t>→ chỉ thay execution provider cho làn B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502920" y="5468112"/>
            <a:ext cx="11201400" cy="74980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Đầu tư quan trọng nhất là MCP server — một server duy nhất phục vụ cả hai runtime.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ToxAgent MCP server — điểm đầu tư quan trọng nhất</a:t>
            </a:r>
          </a:p>
        </p:txBody>
      </p:sp>
      <p:pic>
        <p:nvPicPr>
          <p:cNvPr id="123" name="Picture 122" descr="mcp_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115568"/>
            <a:ext cx="4956048" cy="2478024"/>
          </a:xfrm>
          <a:prstGeom prst="rect">
            <a:avLst/>
          </a:prstGeom>
          <a:ln w="12700">
            <a:solidFill>
              <a:srgbClr val="D9D9D9"/>
            </a:solidFill>
          </a:ln>
        </p:spPr>
      </p:pic>
      <p:sp>
        <p:nvSpPr>
          <p:cNvPr id="124" name="TextBox 123"/>
          <p:cNvSpPr txBox="1"/>
          <p:nvPr/>
        </p:nvSpPr>
        <p:spPr>
          <a:xfrm>
            <a:off x="6720840" y="3639312"/>
            <a:ext cx="4956048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95959"/>
                </a:solidFill>
                <a:latin typeface="Times New Roman"/>
              </a:rPr>
              <a:t>Model Context Protocol · ảnh chụp GitHub 2026-09-03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2920" y="1097280"/>
            <a:ext cx="598932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96B24"/>
                </a:solidFill>
                <a:latin typeface="Times New Roman"/>
              </a:rPr>
              <a:t>MCP server PHẢI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02920" y="1517904"/>
            <a:ext cx="5989320" cy="23317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0">
                <a:solidFill>
                  <a:srgbClr val="0E2841"/>
                </a:solidFill>
                <a:latin typeface="Times New Roman"/>
              </a:rPr>
              <a:t>• gọi application service, không import FastAPI handler</a:t>
            </a:r>
          </a:p>
          <a:p>
            <a:pPr algn="l">
              <a:spcAft>
                <a:spcPts val="600"/>
              </a:spcAft>
            </a:pPr>
            <a:r>
              <a:rPr sz="1650" b="0">
                <a:solidFill>
                  <a:srgbClr val="0E2841"/>
                </a:solidFill>
                <a:latin typeface="Times New Roman"/>
              </a:rPr>
              <a:t>• trả structured content + observation ID</a:t>
            </a:r>
          </a:p>
          <a:p>
            <a:pPr algn="l">
              <a:spcAft>
                <a:spcPts val="600"/>
              </a:spcAft>
            </a:pPr>
            <a:r>
              <a:rPr sz="1650" b="0">
                <a:solidFill>
                  <a:srgbClr val="0E2841"/>
                </a:solidFill>
                <a:latin typeface="Times New Roman"/>
              </a:rPr>
              <a:t>• có timeout và typed error</a:t>
            </a:r>
          </a:p>
          <a:p>
            <a:pPr algn="l">
              <a:spcAft>
                <a:spcPts val="600"/>
              </a:spcAft>
            </a:pPr>
            <a:r>
              <a:rPr sz="1650" b="0">
                <a:solidFill>
                  <a:srgbClr val="0E2841"/>
                </a:solidFill>
                <a:latin typeface="Times New Roman"/>
              </a:rPr>
              <a:t>• cấp attachment reference có ACL</a:t>
            </a:r>
          </a:p>
          <a:p>
            <a:pPr algn="l">
              <a:spcAft>
                <a:spcPts val="600"/>
              </a:spcAft>
            </a:pPr>
            <a:r>
              <a:rPr sz="1650" b="0">
                <a:solidFill>
                  <a:srgbClr val="0E2841"/>
                </a:solidFill>
                <a:latin typeface="Times New Roman"/>
              </a:rPr>
              <a:t>• ghi model / artifact / policy / evidence version</a:t>
            </a:r>
          </a:p>
          <a:p>
            <a:pPr algn="l">
              <a:spcAft>
                <a:spcPts val="600"/>
              </a:spcAft>
            </a:pPr>
            <a:r>
              <a:rPr sz="1650" b="0">
                <a:solidFill>
                  <a:srgbClr val="0E2841"/>
                </a:solidFill>
                <a:latin typeface="Times New Roman"/>
              </a:rPr>
              <a:t>• chỉ expose read-only, deterministic capability ở MVP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2920" y="3977639"/>
            <a:ext cx="598932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C00000"/>
                </a:solidFill>
                <a:latin typeface="Times New Roman"/>
              </a:rPr>
              <a:t>MCP server KHÔNG ĐƯỢC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502920" y="4398264"/>
            <a:ext cx="5989320" cy="14173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650" b="0">
                <a:solidFill>
                  <a:srgbClr val="0E2841"/>
                </a:solidFill>
                <a:latin typeface="Times New Roman"/>
              </a:rPr>
              <a:t>• trả base64 ảnh vào model output</a:t>
            </a:r>
          </a:p>
          <a:p>
            <a:pPr algn="l">
              <a:spcAft>
                <a:spcPts val="600"/>
              </a:spcAft>
            </a:pPr>
            <a:r>
              <a:rPr sz="1650" b="0">
                <a:solidFill>
                  <a:srgbClr val="0E2841"/>
                </a:solidFill>
                <a:latin typeface="Times New Roman"/>
              </a:rPr>
              <a:t>• expose training, filesystem, shell, arbitrary HTTP fetch</a:t>
            </a:r>
          </a:p>
          <a:p>
            <a:pPr algn="l">
              <a:spcAft>
                <a:spcPts val="600"/>
              </a:spcAft>
            </a:pPr>
            <a:r>
              <a:rPr sz="1650" b="0">
                <a:solidFill>
                  <a:srgbClr val="0E2841"/>
                </a:solidFill>
                <a:latin typeface="Times New Roman"/>
              </a:rPr>
              <a:t>• bắt model tự điền session_id hay bearer token trong tool args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720840" y="4069080"/>
            <a:ext cx="4956048" cy="205740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200"/>
              </a:spcAft>
            </a:pPr>
            <a:r>
              <a:rPr sz="1650" b="1">
                <a:solidFill>
                  <a:srgbClr val="FFFFFF"/>
                </a:solidFill>
                <a:latin typeface="Times New Roman"/>
              </a:rPr>
              <a:t>Authorization context phải đến từ</a:t>
            </a:r>
          </a:p>
          <a:p>
            <a:pPr algn="l">
              <a:spcAft>
                <a:spcPts val="200"/>
              </a:spcAft>
            </a:pPr>
            <a:r>
              <a:rPr sz="1650" b="1">
                <a:solidFill>
                  <a:srgbClr val="FFFFFF"/>
                </a:solidFill>
                <a:latin typeface="Times New Roman"/>
              </a:rPr>
              <a:t>transport hoặc runtime binding.</a:t>
            </a:r>
          </a:p>
          <a:p>
            <a:pPr algn="l">
              <a:spcAft>
                <a:spcPts val="200"/>
              </a:spcAft>
            </a:pPr>
            <a:r>
              <a:rPr sz="800" b="0">
                <a:latin typeface="Times New Roman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9FC5E8"/>
                </a:solidFill>
                <a:latin typeface="Times New Roman"/>
              </a:rPr>
              <a:t>analysis_id / report_id là domain input hợp lệ —</a:t>
            </a:r>
          </a:p>
          <a:p>
            <a:pPr algn="l">
              <a:spcAft>
                <a:spcPts val="200"/>
              </a:spcAft>
            </a:pPr>
            <a:r>
              <a:rPr sz="1550" b="0">
                <a:solidFill>
                  <a:srgbClr val="9FC5E8"/>
                </a:solidFill>
                <a:latin typeface="Times New Roman"/>
              </a:rPr>
              <a:t>bearer token thì không.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502920" y="5943600"/>
            <a:ext cx="5989320" cy="384048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Một server duy nhất phục vụ cả OpenCode lẫn DSH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LLM không tham gia mọi use case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02920" y="1115568"/>
          <a:ext cx="6492240" cy="3529584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572000"/>
                <a:gridCol w="1920240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Use case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LLM calls mục tiêu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/predict · /predict/batch · /explain · /analyze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Build structured report mặc định (ReportBuilder)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Evidence QA / provenance validation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Tóm tắt report bằng ngôn ngữ tự nhiên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1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Một câu hỏi follow-up đơn giản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1 – 2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Research + synthesis có tool calls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2 – 4 (hard step cap)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Retry do vi phạm provenance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tối đa 1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Multi-agent / reflection ensemble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0 trong MVP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7315200" y="1115568"/>
            <a:ext cx="438912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0E2841"/>
                </a:solidFill>
                <a:latin typeface="Times New Roman"/>
              </a:rPr>
              <a:t>Đòn bẩy giảm cost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15200" y="1572768"/>
            <a:ext cx="4389120" cy="31546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• tool roster nhỏ và ổn định trong session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• không bật tool coding mặc định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• projection trước, compaction sau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• không gửi base64 / raw JSON / literature dump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• pin system prompt, tool order và model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• output-token cap và steps cap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• cache theo canonical SMILES + policy version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• reuse observation thay vì gọi lại tool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• deterministic fallback thay model reflection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02920" y="4864608"/>
            <a:ext cx="11201400" cy="12984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Phải đo input · cache read/write · output · reasoning và cost theo TỪNG runtime / model route</a:t>
            </a:r>
          </a:p>
          <a:p>
            <a:pPr algn="ctr">
              <a:spcAft>
                <a:spcPts val="200"/>
              </a:spcAft>
            </a:pPr>
            <a:r>
              <a:rPr sz="1800" b="0">
                <a:solidFill>
                  <a:srgbClr val="9FC5E8"/>
                </a:solidFill>
                <a:latin typeface="Times New Roman"/>
              </a:rPr>
              <a:t>TRƯỚC khi mở rộng tool catalog — tool schema từng chiếm phần lớn static prefix của session mẫu.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0" y="2148840"/>
            <a:ext cx="12191695" cy="173736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822960" y="2286000"/>
            <a:ext cx="10561320" cy="5029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9FC5E8"/>
                </a:solidFill>
                <a:latin typeface="Times New Roman"/>
              </a:rPr>
              <a:t>PHẦN 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48640" y="2724912"/>
            <a:ext cx="11091672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Times New Roman"/>
              </a:rPr>
              <a:t>Lộ trình, rủi ro và quyết định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05840" y="4114800"/>
            <a:ext cx="10177272" cy="10058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0">
                <a:solidFill>
                  <a:srgbClr val="595959"/>
                </a:solidFill>
                <a:latin typeface="Times New Roman"/>
              </a:rPr>
              <a:t>Tám giai đoạn S0–S7, mỗi giai đoạn có điều kiện thoát đo được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Lộ trình hợp nhất — S0 đến S7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30352" y="120700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4" name="Rounded Rectangle 123"/>
          <p:cNvSpPr/>
          <p:nvPr/>
        </p:nvSpPr>
        <p:spPr>
          <a:xfrm>
            <a:off x="530352" y="1207008"/>
            <a:ext cx="2670048" cy="438912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S0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58368" y="1755648"/>
            <a:ext cx="2414016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Đóng băng baseline</a:t>
            </a:r>
          </a:p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+ inventory budget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3328416" y="120700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7" name="Rounded Rectangle 126"/>
          <p:cNvSpPr/>
          <p:nvPr/>
        </p:nvSpPr>
        <p:spPr>
          <a:xfrm>
            <a:off x="3328416" y="1207008"/>
            <a:ext cx="2670048" cy="438912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S1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3456432" y="1755648"/>
            <a:ext cx="2414016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Tách scientific</a:t>
            </a:r>
          </a:p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kernel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6126480" y="120700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0" name="Rounded Rectangle 129"/>
          <p:cNvSpPr/>
          <p:nvPr/>
        </p:nvSpPr>
        <p:spPr>
          <a:xfrm>
            <a:off x="6126480" y="1207008"/>
            <a:ext cx="2670048" cy="438912"/>
          </a:xfrm>
          <a:prstGeom prst="roundRect">
            <a:avLst>
              <a:gd name="adj" fmla="val 9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S2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254496" y="1755648"/>
            <a:ext cx="2414016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Tool/observation plane</a:t>
            </a:r>
          </a:p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+ MCP tối thiểu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924544" y="120700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3" name="Rounded Rectangle 132"/>
          <p:cNvSpPr/>
          <p:nvPr/>
        </p:nvSpPr>
        <p:spPr>
          <a:xfrm>
            <a:off x="8924544" y="1207008"/>
            <a:ext cx="2670048" cy="438912"/>
          </a:xfrm>
          <a:prstGeom prst="roundRect">
            <a:avLst>
              <a:gd name="adj" fmla="val 9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S3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052560" y="1755648"/>
            <a:ext cx="2414016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Mở research tools</a:t>
            </a:r>
          </a:p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+ eval hai runtime</a:t>
            </a:r>
          </a:p>
        </p:txBody>
      </p:sp>
      <p:sp>
        <p:nvSpPr>
          <p:cNvPr id="135" name="Right Arrow 134"/>
          <p:cNvSpPr/>
          <p:nvPr/>
        </p:nvSpPr>
        <p:spPr>
          <a:xfrm>
            <a:off x="530352" y="2926080"/>
            <a:ext cx="10844784" cy="219456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530352" y="331012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7" name="Rounded Rectangle 136"/>
          <p:cNvSpPr/>
          <p:nvPr/>
        </p:nvSpPr>
        <p:spPr>
          <a:xfrm>
            <a:off x="530352" y="3310128"/>
            <a:ext cx="2670048" cy="438912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S4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58368" y="3858768"/>
            <a:ext cx="2414016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Session bền vững</a:t>
            </a:r>
          </a:p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+ unified SSE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3328416" y="331012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0" name="Rounded Rectangle 139"/>
          <p:cNvSpPr/>
          <p:nvPr/>
        </p:nvSpPr>
        <p:spPr>
          <a:xfrm>
            <a:off x="3328416" y="3310128"/>
            <a:ext cx="2670048" cy="438912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S5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456432" y="3858768"/>
            <a:ext cx="2414016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AgentRuntimeGateway</a:t>
            </a:r>
          </a:p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+ frontend migration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6126480" y="331012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6126480" y="3310128"/>
            <a:ext cx="2670048" cy="438912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S6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254496" y="3858768"/>
            <a:ext cx="2414016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Skills, compaction,</a:t>
            </a:r>
          </a:p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enforcement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924544" y="3310128"/>
            <a:ext cx="2670048" cy="1572768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6" name="Rounded Rectangle 145"/>
          <p:cNvSpPr/>
          <p:nvPr/>
        </p:nvSpPr>
        <p:spPr>
          <a:xfrm>
            <a:off x="8924544" y="3310128"/>
            <a:ext cx="2670048" cy="438912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S7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9052560" y="3858768"/>
            <a:ext cx="2414016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Dọn runtime cũ</a:t>
            </a:r>
          </a:p>
          <a:p>
            <a:pPr algn="ctr">
              <a:spcAft>
                <a:spcPts val="100"/>
              </a:spcAft>
            </a:pPr>
            <a:r>
              <a:rPr sz="1600" b="1">
                <a:solidFill>
                  <a:srgbClr val="0E2841"/>
                </a:solidFill>
                <a:latin typeface="Times New Roman"/>
              </a:rPr>
              <a:t>+ quyết định production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30352" y="5047488"/>
            <a:ext cx="5394960" cy="1170432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S4 chỉ phụ thuộc S1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9FC5E8"/>
                </a:solidFill>
                <a:latin typeface="Times New Roman"/>
              </a:rPr>
              <a:t>→ có thể chạy SONG SONG với S2–S3 nếu đủ người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5980176" y="5047488"/>
            <a:ext cx="5394960" cy="1170432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Times New Roman"/>
              </a:rPr>
              <a:t>Strangler, không big-bang</a:t>
            </a:r>
          </a:p>
          <a:p>
            <a:pPr algn="ctr">
              <a:spcAft>
                <a:spcPts val="200"/>
              </a:spcAft>
            </a:pPr>
            <a:r>
              <a:rPr sz="1600" b="0">
                <a:solidFill>
                  <a:srgbClr val="9FC5E8"/>
                </a:solidFill>
                <a:latin typeface="Times New Roman"/>
              </a:rPr>
              <a:t>Endpoint cũ chạy qua adapter; golden test đi trước refactor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Điều kiện thoát của từng giai đoạn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02920" y="1143000"/>
          <a:ext cx="11201399" cy="413308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469036"/>
                <a:gridCol w="9732363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Giai đoạn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FFFFFF"/>
                          </a:solidFill>
                          <a:latin typeface="Times New Roman"/>
                        </a:rPr>
                        <a:t>Điều kiện thoát (đo được)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S0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Cùng input + policy + artifact cho output trong tolerance; biết budget nằm ở provider nào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S1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/predict, /explain, /analyze giữ contract; unit test kernel chạy không cần FastAPI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S2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Mọi tool có schema/timeout/typed error; cả hai runtime gọi cùng contract, không bịa số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S3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Tool catalog chỉ tăng khi eval chứng minh cần thiết; có số liệu cost theo runtime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S4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Restart hoặc đổi instance vẫn resume được; bỏ được report_state từ client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S5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Không cần ADK để analyze/chat; cùng frontend API chạy trên hai runtime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S6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Session dài không mất evidence anchors; provenance violation dưới ngưỡng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600" b="1">
                          <a:solidFill>
                            <a:srgbClr val="0E2841"/>
                          </a:solidFill>
                          <a:latin typeface="Times New Roman"/>
                        </a:rPr>
                        <a:t>S7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0E2841"/>
                          </a:solidFill>
                          <a:latin typeface="Times New Roman"/>
                        </a:rPr>
                        <a:t>Một control plane duy nhất; đã chốt primary runtime cho deployment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4" name="Rounded Rectangle 123"/>
          <p:cNvSpPr/>
          <p:nvPr/>
        </p:nvSpPr>
        <p:spPr>
          <a:xfrm>
            <a:off x="502920" y="5486400"/>
            <a:ext cx="11201400" cy="74980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Không chuyển giai đoạn bằng cảm tính. Shadow → warn → enforce cho mọi validator mới.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Rủi ro cao nhất và cách giảm</a:t>
            </a:r>
          </a:p>
        </p:txBody>
      </p:sp>
      <p:graphicFrame>
        <p:nvGraphicFramePr>
          <p:cNvPr id="123" name="Table 122"/>
          <p:cNvGraphicFramePr>
            <a:graphicFrameLocks noGrp="1"/>
          </p:cNvGraphicFramePr>
          <p:nvPr/>
        </p:nvGraphicFramePr>
        <p:xfrm>
          <a:off x="502920" y="1115568"/>
          <a:ext cx="11201398" cy="367588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4498922"/>
                <a:gridCol w="1744480"/>
                <a:gridCol w="4957996"/>
              </a:tblGrid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Rủi ro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Tác động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Times New Roman"/>
                        </a:rPr>
                        <a:t>Cách giảm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Rewrite làm đổi semantics model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Rất cao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Contract / golden test TRƯỚC refactor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External evidence provider không ổn định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Cao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Provider interface, cache, typed degradation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Context summary làm mất uncertainty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Cao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Pin observation / citation / policy; verify checkpoint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User memory gây contamination khoa học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Cao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Explicit preference only; không auto-learn fact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Budget đến từ subscription cá nhân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Cao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Giới hạn ở local dev / internal eval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Tool surface lớn làm sai routing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Trung bình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Capability profiles, tối đa ~6–9 tool mỗi call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Provenance strict làm giảm UX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Trung bình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Shadow → warn → enforce, deterministic fallback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1">
                          <a:solidFill>
                            <a:srgbClr val="0E2841"/>
                          </a:solidFill>
                          <a:latin typeface="Times New Roman"/>
                        </a:rPr>
                        <a:t>Wire protocol runtime thay đổi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Trung bình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50" b="0">
                          <a:solidFill>
                            <a:srgbClr val="0E2841"/>
                          </a:solidFill>
                          <a:latin typeface="Times New Roman"/>
                        </a:rPr>
                        <a:t>Pin version; adapter mỏng sau AgentRuntimeProvider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24" name="TextBox 123"/>
          <p:cNvSpPr txBox="1"/>
          <p:nvPr/>
        </p:nvSpPr>
        <p:spPr>
          <a:xfrm>
            <a:off x="502920" y="4956048"/>
            <a:ext cx="1120140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1">
                <a:solidFill>
                  <a:srgbClr val="C00000"/>
                </a:solidFill>
                <a:latin typeface="Times New Roman"/>
              </a:rPr>
              <a:t>Những điều CHƯA nên làm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02920" y="5376672"/>
            <a:ext cx="553212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Tự viết model loop hay thêm LangGraph/CrewAI thay ADK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72200" y="5376672"/>
            <a:ext cx="553212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Tách từng tool thành microservice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02920" y="5705856"/>
            <a:ext cx="553212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Cho model tự chọn làn A hay làn B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172200" y="5705856"/>
            <a:ext cx="553212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Dùng prompt để enforce auth, threshold hay provenance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02920" y="6035040"/>
            <a:ext cx="553212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Cho skill cấp thêm quyền tool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172200" y="6035040"/>
            <a:ext cx="5532120" cy="31089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50" b="0">
                <a:solidFill>
                  <a:srgbClr val="0E2841"/>
                </a:solidFill>
                <a:latin typeface="Times New Roman"/>
              </a:rPr>
              <a:t>• Subagent cho screening/research/writer trong MVP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Quyết định cần chốt trước khi code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1078992"/>
            <a:ext cx="553212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96B24"/>
                </a:solidFill>
                <a:latin typeface="Times New Roman"/>
              </a:rPr>
              <a:t>Đề xuất mặc định</a:t>
            </a:r>
          </a:p>
        </p:txBody>
      </p:sp>
      <p:graphicFrame>
        <p:nvGraphicFramePr>
          <p:cNvPr id="124" name="Table 123"/>
          <p:cNvGraphicFramePr>
            <a:graphicFrameLocks noGrp="1"/>
          </p:cNvGraphicFramePr>
          <p:nvPr/>
        </p:nvGraphicFramePr>
        <p:xfrm>
          <a:off x="502920" y="1481328"/>
          <a:ext cx="5532120" cy="3035808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766060"/>
                <a:gridCol w="2766060"/>
              </a:tblGrid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Câu hỏi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FFFFFF"/>
                          </a:solidFill>
                          <a:latin typeface="Times New Roman"/>
                        </a:rPr>
                        <a:t>Mặc định khuyến nghị</a:t>
                      </a:r>
                    </a:p>
                  </a:txBody>
                  <a:tcPr marL="82296" marR="64008" marT="41148" marB="41148" anchor="ctr">
                    <a:solidFill>
                      <a:srgbClr val="0E2841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E2841"/>
                          </a:solidFill>
                          <a:latin typeface="Times New Roman"/>
                        </a:rPr>
                        <a:t>Store session/message/part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E2841"/>
                          </a:solidFill>
                          <a:latin typeface="Times New Roman"/>
                        </a:rPr>
                        <a:t>Firestore trước, sau interface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E2841"/>
                          </a:solidFill>
                          <a:latin typeface="Times New Roman"/>
                        </a:rPr>
                        <a:t>Runtime topology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E2841"/>
                          </a:solidFill>
                          <a:latin typeface="Times New Roman"/>
                        </a:rPr>
                        <a:t>Modular monolith trên Cloud Run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E2841"/>
                          </a:solidFill>
                          <a:latin typeface="Times New Roman"/>
                        </a:rPr>
                        <a:t>Agent runtime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E2841"/>
                          </a:solidFill>
                          <a:latin typeface="Times New Roman"/>
                        </a:rPr>
                        <a:t>OpenCode primary; DSH worker; không ADK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E2841"/>
                          </a:solidFill>
                          <a:latin typeface="Times New Roman"/>
                        </a:rPr>
                        <a:t>LLM ở làn A / làn B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E2841"/>
                          </a:solidFill>
                          <a:latin typeface="Times New Roman"/>
                        </a:rPr>
                        <a:t>Cấm / cho phép có budget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E2841"/>
                          </a:solidFill>
                          <a:latin typeface="Times New Roman"/>
                        </a:rPr>
                        <a:t>Subagents · generic plugins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E2841"/>
                          </a:solidFill>
                          <a:latin typeface="Times New Roman"/>
                        </a:rPr>
                        <a:t>Không trong MVP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E2841"/>
                          </a:solidFill>
                          <a:latin typeface="Times New Roman"/>
                        </a:rPr>
                        <a:t>Provenance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E2841"/>
                          </a:solidFill>
                          <a:latin typeface="Times New Roman"/>
                        </a:rPr>
                        <a:t>Shadow trước, sau đó strict</a:t>
                      </a:r>
                    </a:p>
                  </a:txBody>
                  <a:tcPr marL="82296" marR="64008" marT="41148" marB="41148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1">
                          <a:solidFill>
                            <a:srgbClr val="0E2841"/>
                          </a:solidFill>
                          <a:latin typeface="Times New Roman"/>
                        </a:rPr>
                        <a:t>User memory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50" b="0">
                          <a:solidFill>
                            <a:srgbClr val="0E2841"/>
                          </a:solidFill>
                          <a:latin typeface="Times New Roman"/>
                        </a:rPr>
                        <a:t>Opt-in preferences only</a:t>
                      </a:r>
                    </a:p>
                  </a:txBody>
                  <a:tcPr marL="82296" marR="64008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5" name="TextBox 124"/>
          <p:cNvSpPr txBox="1"/>
          <p:nvPr/>
        </p:nvSpPr>
        <p:spPr>
          <a:xfrm>
            <a:off x="6309360" y="1078992"/>
            <a:ext cx="5394960" cy="3840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E97132"/>
                </a:solidFill>
                <a:latin typeface="Times New Roman"/>
              </a:rPr>
              <a:t>Cần product / engineering xác nhận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309360" y="1517904"/>
            <a:ext cx="438912" cy="38404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76288" y="1554480"/>
            <a:ext cx="4828032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Public scientific API có external consumer chưa?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6309360" y="1956815"/>
            <a:ext cx="438912" cy="38404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76288" y="1993391"/>
            <a:ext cx="4828032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Cần exact schema /analyze hay chỉ semantic compat?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309360" y="2395727"/>
            <a:ext cx="438912" cy="38404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76288" y="2432303"/>
            <a:ext cx="4828032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Report/history retention bao lâu? Xoá theo user?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6309360" y="2834639"/>
            <a:ext cx="438912" cy="38404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76288" y="2871215"/>
            <a:ext cx="4828032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Raw literature response có cần lưu để audit không?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309360" y="3273551"/>
            <a:ext cx="438912" cy="38404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76288" y="3310127"/>
            <a:ext cx="4828032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Image/heatmap chuyển signed URL ngay được không?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6309360" y="3712463"/>
            <a:ext cx="438912" cy="38404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76288" y="3749039"/>
            <a:ext cx="4828032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Frontend cần stream token-level hay part-level?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309360" y="4151375"/>
            <a:ext cx="438912" cy="384048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Times New Roman"/>
              </a:rP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6876288" y="4187951"/>
            <a:ext cx="4828032" cy="36576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0E2841"/>
                </a:solidFill>
                <a:latin typeface="Times New Roman"/>
              </a:rPr>
              <a:t>Ngưỡng provenance nào CHẶN, ngưỡng nào chỉ warning?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502920" y="4846320"/>
            <a:ext cx="11201400" cy="132588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Times New Roman"/>
              </a:rPr>
              <a:t>ToxAgent sở hữu domain, tools, state và provenance;</a:t>
            </a:r>
          </a:p>
          <a:p>
            <a:pPr algn="ctr">
              <a:spcAft>
                <a:spcPts val="200"/>
              </a:spcAft>
            </a:pPr>
            <a:r>
              <a:rPr sz="2200" b="1">
                <a:solidFill>
                  <a:srgbClr val="9FC5E8"/>
                </a:solidFill>
                <a:latin typeface="Times New Roman"/>
              </a:rPr>
              <a:t>OpenCode / DSH cho thuê agent loop và đường tới LLM.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274320" y="155448"/>
            <a:ext cx="1164031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2060"/>
                </a:solidFill>
                <a:latin typeface="Times New Roman"/>
              </a:rPr>
              <a:t>Kết luận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502920" y="1097280"/>
            <a:ext cx="11201400" cy="141732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0">
                <a:solidFill>
                  <a:srgbClr val="9FC5E8"/>
                </a:solidFill>
                <a:latin typeface="Times New Roman"/>
              </a:rPr>
              <a:t>Không phải “giữ model API, viết một agent mới bên ngoài”.</a:t>
            </a:r>
          </a:p>
          <a:p>
            <a:pPr algn="ctr">
              <a:spcAft>
                <a:spcPts val="200"/>
              </a:spcAft>
            </a:pPr>
            <a:r>
              <a:rPr sz="800" b="0">
                <a:latin typeface="Times New Roman"/>
              </a:rPr>
              <a:t> </a:t>
            </a:r>
          </a:p>
          <a:p>
            <a:pPr algn="ctr"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Times New Roman"/>
              </a:rPr>
              <a:t>Giữ và cô lập scientific kernel cùng deterministic analysis contract;</a:t>
            </a:r>
          </a:p>
          <a:p>
            <a:pPr algn="ctr">
              <a:spcAft>
                <a:spcPts val="200"/>
              </a:spcAft>
            </a:pPr>
            <a:r>
              <a:rPr sz="2300" b="1">
                <a:solidFill>
                  <a:srgbClr val="FFFFFF"/>
                </a:solidFill>
                <a:latin typeface="Times New Roman"/>
              </a:rPr>
              <a:t>thay thế toàn bộ control plane bằng một harness stateful, typed, provenance-first.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02920" y="2724912"/>
            <a:ext cx="11201400" cy="402336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0E2841"/>
                </a:solidFill>
                <a:latin typeface="Times New Roman"/>
              </a:rPr>
              <a:t>Thứ tự đầu tư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502920" y="3218688"/>
            <a:ext cx="1783080" cy="16002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6" name="Rounded Rectangle 125"/>
          <p:cNvSpPr/>
          <p:nvPr/>
        </p:nvSpPr>
        <p:spPr>
          <a:xfrm>
            <a:off x="1124712" y="3346704"/>
            <a:ext cx="548640" cy="54864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76072" y="3968496"/>
            <a:ext cx="1636776" cy="8412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ToxAgent</a:t>
            </a:r>
          </a:p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MCP server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2386584" y="3218688"/>
            <a:ext cx="1783080" cy="16002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3008376" y="3346704"/>
            <a:ext cx="548640" cy="548640"/>
          </a:xfrm>
          <a:prstGeom prst="roundRect">
            <a:avLst>
              <a:gd name="adj" fmla="val 9000"/>
            </a:avLst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459736" y="3968496"/>
            <a:ext cx="1636776" cy="8412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Agent/profile tối giản</a:t>
            </a:r>
          </a:p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cho OpenCode &amp; DSH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4270248" y="3218688"/>
            <a:ext cx="1783080" cy="16002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0F9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2" name="Rounded Rectangle 131"/>
          <p:cNvSpPr/>
          <p:nvPr/>
        </p:nvSpPr>
        <p:spPr>
          <a:xfrm>
            <a:off x="4892040" y="3346704"/>
            <a:ext cx="548640" cy="548640"/>
          </a:xfrm>
          <a:prstGeom prst="roundRect">
            <a:avLst>
              <a:gd name="adj" fmla="val 9000"/>
            </a:avLst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343400" y="3968496"/>
            <a:ext cx="1636776" cy="8412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Eval hai runtime</a:t>
            </a:r>
          </a:p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trên cùng prompts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6153912" y="3218688"/>
            <a:ext cx="1783080" cy="16002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5" name="Rounded Rectangle 134"/>
          <p:cNvSpPr/>
          <p:nvPr/>
        </p:nvSpPr>
        <p:spPr>
          <a:xfrm>
            <a:off x="6775704" y="3346704"/>
            <a:ext cx="548640" cy="548640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227064" y="3968496"/>
            <a:ext cx="1636776" cy="8412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OpenCode-first</a:t>
            </a:r>
          </a:p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runtime gateway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8037576" y="3218688"/>
            <a:ext cx="1783080" cy="16002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38" name="Rounded Rectangle 137"/>
          <p:cNvSpPr/>
          <p:nvPr/>
        </p:nvSpPr>
        <p:spPr>
          <a:xfrm>
            <a:off x="8659368" y="3346704"/>
            <a:ext cx="548640" cy="548640"/>
          </a:xfrm>
          <a:prstGeom prst="roundRect">
            <a:avLst>
              <a:gd name="adj" fmla="val 9000"/>
            </a:avLst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110728" y="3968496"/>
            <a:ext cx="1636776" cy="8412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DSH adapter cho</a:t>
            </a:r>
          </a:p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worker / eval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9921240" y="3218688"/>
            <a:ext cx="1783080" cy="1600200"/>
          </a:xfrm>
          <a:prstGeom prst="roundRect">
            <a:avLst>
              <a:gd name="adj" fmla="val 9000"/>
            </a:avLst>
          </a:prstGeom>
          <a:solidFill>
            <a:srgbClr val="F2F2F2"/>
          </a:solidFill>
          <a:ln w="22225">
            <a:solidFill>
              <a:srgbClr val="196B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</a:p>
        </p:txBody>
      </p:sp>
      <p:sp>
        <p:nvSpPr>
          <p:cNvPr id="141" name="Rounded Rectangle 140"/>
          <p:cNvSpPr/>
          <p:nvPr/>
        </p:nvSpPr>
        <p:spPr>
          <a:xfrm>
            <a:off x="10543032" y="3346704"/>
            <a:ext cx="548640" cy="548640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100" b="1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9994392" y="3968496"/>
            <a:ext cx="1636776" cy="84124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Direct-provider adapter</a:t>
            </a:r>
          </a:p>
          <a:p>
            <a:pPr algn="ctr">
              <a:spcAft>
                <a:spcPts val="100"/>
              </a:spcAft>
            </a:pPr>
            <a:r>
              <a:rPr sz="1250" b="1">
                <a:solidFill>
                  <a:srgbClr val="0E2841"/>
                </a:solidFill>
                <a:latin typeface="Times New Roman"/>
              </a:rPr>
              <a:t>khi có production budget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502920" y="5074920"/>
            <a:ext cx="11201400" cy="1115568"/>
          </a:xfrm>
          <a:prstGeom prst="roundRect">
            <a:avLst>
              <a:gd name="adj" fmla="val 9000"/>
            </a:avLst>
          </a:prstGeom>
          <a:solidFill>
            <a:srgbClr val="196B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2000" b="1">
                <a:solidFill>
                  <a:srgbClr val="FFFFFF"/>
                </a:solidFill>
                <a:latin typeface="Times New Roman"/>
              </a:rPr>
              <a:t>Tận dụng ngay LLM budget sẵn có, tránh duy trì ADK/custom loop,</a:t>
            </a:r>
          </a:p>
          <a:p>
            <a:pPr algn="ctr">
              <a:spcAft>
                <a:spcPts val="200"/>
              </a:spcAft>
            </a:pPr>
            <a:r>
              <a:rPr sz="2000" b="1">
                <a:solidFill>
                  <a:srgbClr val="9FC5E8"/>
                </a:solidFill>
                <a:latin typeface="Times New Roman"/>
              </a:rPr>
              <a:t>và vẫn giữ lối thoát khi budget, provider hoặc điều khoản deployment thay đổi.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8" name="Google Shape;118;g3b06067da4f_0_0"/>
          <p:cNvSpPr/>
          <p:nvPr/>
        </p:nvSpPr>
        <p:spPr>
          <a:xfrm>
            <a:off x="0" y="6492240"/>
            <a:ext cx="12192000" cy="365760"/>
          </a:xfrm>
          <a:prstGeom prst="flowChartProcess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g3b06067da4f_0_0"/>
          <p:cNvSpPr txBox="1"/>
          <p:nvPr/>
        </p:nvSpPr>
        <p:spPr>
          <a:xfrm>
            <a:off x="8910879" y="6492240"/>
            <a:ext cx="217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 Bio-Research Team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b06067da4f_0_0"/>
          <p:cNvSpPr txBox="1"/>
          <p:nvPr>
            <p:ph idx="12" type="sldNum"/>
          </p:nvPr>
        </p:nvSpPr>
        <p:spPr>
          <a:xfrm>
            <a:off x="9448800" y="651619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b="1" lang="en-US" sz="1400">
                <a:solidFill>
                  <a:srgbClr val="F2F2F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400">
              <a:solidFill>
                <a:srgbClr val="F2F2F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g3b06067da4f_0_0"/>
          <p:cNvSpPr txBox="1"/>
          <p:nvPr/>
        </p:nvSpPr>
        <p:spPr>
          <a:xfrm>
            <a:off x="-4527" y="6492250"/>
            <a:ext cx="200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ToxAgent Harness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155448" y="2148840"/>
            <a:ext cx="1188720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4600" b="1">
                <a:solidFill>
                  <a:srgbClr val="0E2841"/>
                </a:solidFill>
                <a:latin typeface="Times New Roman"/>
              </a:rPr>
              <a:t>Cảm ơn!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502920" y="3246120"/>
            <a:ext cx="11201400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spcAft>
                <a:spcPts val="800"/>
              </a:spcAft>
            </a:pPr>
            <a:r>
              <a:rPr sz="2000" b="1">
                <a:solidFill>
                  <a:srgbClr val="156082"/>
                </a:solidFill>
                <a:latin typeface="Times New Roman"/>
              </a:rPr>
              <a:t>docs/spec/TOXAGENT_HARNESS_MASTER_PLAN_VI.md</a:t>
            </a:r>
          </a:p>
          <a:p>
            <a:pPr algn="ctr">
              <a:spcAft>
                <a:spcPts val="800"/>
              </a:spcAft>
            </a:pPr>
            <a:r>
              <a:rPr sz="1700" b="0">
                <a:solidFill>
                  <a:srgbClr val="595959"/>
                </a:solidFill>
                <a:latin typeface="Times New Roman"/>
              </a:rPr>
              <a:t>HARNESS_SYSTEM_DESIGN_VI · HARNESS_USE_CASES_VI · HARNESS_USER_STORIES_VI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3246120" y="4434840"/>
            <a:ext cx="5715000" cy="777240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FFFFFF"/>
                </a:solidFill>
                <a:latin typeface="Times New Roman"/>
              </a:rPr>
              <a:t>Câu hỏi và phản biện luôn được hoan nghênh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2025-03-17T07:41:48Z</dcterms:created>
</cp:coreProperties>
</file>