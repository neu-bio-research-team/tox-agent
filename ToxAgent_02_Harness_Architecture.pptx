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8"/>
    <p:sldId id="258" r:id="rId7"/>
    <p:sldId id="259" r:id="rId6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6858000" cx="12192000"/>
  <p:notesSz cx="6858000" cy="9144000"/>
  <p:embeddedFontLst>
    <p:embeddedFont>
      <p:font typeface="Play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g2ZLwmwPqtoFpUvbIbnB5wqrvH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font" Target="fonts/Play-regular.fntdata"/><Relationship Id="rId10" Type="http://schemas.openxmlformats.org/officeDocument/2006/relationships/font" Target="fonts/Play-bold.fntdata"/><Relationship Id="rId11" Type="http://customschemas.google.com/relationships/presentationmetadata" Target="metadata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/>
          <p:nvPr>
            <p:ph idx="2" type="sldImg"/>
          </p:nvPr>
        </p:nvSpPr>
        <p:spPr>
          <a:xfrm>
            <a:off x="90488" y="744538"/>
            <a:ext cx="6618287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J">
  <p:cSld name="TITLE_AND_BODY_2_1_1_1_1_1_2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06067da4f_0_38"/>
          <p:cNvSpPr/>
          <p:nvPr>
            <p:ph idx="2" type="pic"/>
          </p:nvPr>
        </p:nvSpPr>
        <p:spPr>
          <a:xfrm>
            <a:off x="457200" y="1519300"/>
            <a:ext cx="3090600" cy="3090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86" name="Google Shape;86;g3b06067da4f_0_38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b06067da4f_0_38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12192000" cy="171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>
            <p:ph type="ctrTitle"/>
          </p:nvPr>
        </p:nvSpPr>
        <p:spPr>
          <a:xfrm>
            <a:off x="1302654" y="1809955"/>
            <a:ext cx="9586800" cy="18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sz="3200" b="1">
                <a:solidFill>
                  <a:srgbClr val="0E2841"/>
                </a:solidFill>
                <a:latin typeface="Times New Roman"/>
              </a:rPr>
              <a:t>Đề xuất kiến trúc mới cho ToxAgent
Harness cho Làn A / Làn B</a:t>
            </a:r>
            <a:endParaRPr/>
          </a:p>
        </p:txBody>
      </p:sp>
      <p:sp>
        <p:nvSpPr>
          <p:cNvPr id="94" name="Google Shape;94;p1"/>
          <p:cNvSpPr txBox="1"/>
          <p:nvPr>
            <p:ph idx="1" type="subTitle"/>
          </p:nvPr>
        </p:nvSpPr>
        <p:spPr>
          <a:xfrm>
            <a:off x="2044993" y="3998084"/>
            <a:ext cx="79236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sz="1900" b="1">
                <a:latin typeface="Times New Roman"/>
              </a:rPr>
              <a:t>NEU Bio-Research Team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/>
            <a:r>
              <a:rPr sz="1900" b="1">
                <a:latin typeface="Times New Roman"/>
              </a:rPr>
              <a:t>Presenter: Nguyen Minh Quang</a:t>
            </a:r>
          </a:p>
          <a:p>
            <a:pPr algn="ctr"/>
            <a:r>
              <a:rPr sz="1600" b="0">
                <a:latin typeface="Times New Roman"/>
              </a:rPr>
              <a:t>Nguồn: docs/spec/HARNESS_* · nhánh agent_test @ 12c3aa5</a:t>
            </a:r>
          </a:p>
        </p:txBody>
      </p:sp>
      <p:cxnSp>
        <p:nvCxnSpPr>
          <p:cNvPr id="95" name="Google Shape;95;p1"/>
          <p:cNvCxnSpPr/>
          <p:nvPr/>
        </p:nvCxnSpPr>
        <p:spPr>
          <a:xfrm flipH="1" rot="10800000">
            <a:off x="2043711" y="5288776"/>
            <a:ext cx="7923600" cy="8800"/>
          </a:xfrm>
          <a:prstGeom prst="straightConnector1">
            <a:avLst/>
          </a:prstGeom>
          <a:noFill/>
          <a:ln cap="flat" cmpd="sng" w="19050">
            <a:solidFill>
              <a:srgbClr val="00206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96" name="Google Shape;96;p1"/>
          <p:cNvSpPr txBox="1"/>
          <p:nvPr/>
        </p:nvSpPr>
        <p:spPr>
          <a:xfrm>
            <a:off x="3343583" y="3401568"/>
            <a:ext cx="549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Architecture Proposal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-493995" y="1160199"/>
            <a:ext cx="2743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>
                <a:solidFill>
                  <a:srgbClr val="FFFFFF"/>
                </a:solidFill>
                <a:latin typeface="Arial"/>
              </a:rPr>
              <a:t>ToxAgent,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2026</a:t>
            </a:r>
          </a:p>
        </p:txBody>
      </p:sp>
      <p:pic>
        <p:nvPicPr>
          <p:cNvPr descr="A black and white logo&#10;&#10;AI-generated content may be incorrect."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30616" y="-848"/>
            <a:ext cx="1473506" cy="15987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ogo with text and dots&#10;&#10;AI-generated content may be incorrect." id="99" name="Google Shape;9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08244" y="-2"/>
            <a:ext cx="1597073" cy="15970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ogo with a map and a red and blue circle&#10;&#10;AI-generated content may be incorrect." id="100" name="Google Shape;10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0055" y="96032"/>
            <a:ext cx="1016958" cy="10605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logo&#10;&#10;AI-generated content may be incorrect." id="101" name="Google Shape;10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31940" y="5457410"/>
            <a:ext cx="2118987" cy="1207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910879" y="6492240"/>
            <a:ext cx="2170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ToxAgent Harness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1">
                <a:solidFill>
                  <a:srgbClr val="002060"/>
                </a:solidFill>
                <a:latin typeface="Times New Roman"/>
              </a:rPr>
              <a:t>Nội dung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548640" y="1417320"/>
            <a:ext cx="2697480" cy="37033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554480" y="1691640"/>
            <a:ext cx="685800" cy="6858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30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13232" y="2606040"/>
            <a:ext cx="23682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C00000"/>
                </a:solidFill>
                <a:latin typeface="Times New Roman"/>
              </a:rPr>
              <a:t>Vì sao phải đổi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13232" y="3474720"/>
            <a:ext cx="2368296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95959"/>
                </a:solidFill>
                <a:latin typeface="Times New Roman"/>
              </a:rPr>
              <a:t>Tám quyết định của harness</a:t>
            </a:r>
          </a:p>
          <a:p>
            <a:pPr algn="ctr"/>
            <a:r>
              <a:rPr sz="1600" b="0">
                <a:solidFill>
                  <a:srgbClr val="595959"/>
                </a:solidFill>
                <a:latin typeface="Times New Roman"/>
              </a:rPr>
              <a:t>hôm nay nằm rải rác trong main.py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383280" y="1417320"/>
            <a:ext cx="2697480" cy="37033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389120" y="1691640"/>
            <a:ext cx="685800" cy="6858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30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547872" y="2606040"/>
            <a:ext cx="23682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156082"/>
                </a:solidFill>
                <a:latin typeface="Times New Roman"/>
              </a:rPr>
              <a:t>Kiến trúc trước &amp; sau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547872" y="3474720"/>
            <a:ext cx="2368296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95959"/>
                </a:solidFill>
                <a:latin typeface="Times New Roman"/>
              </a:rPr>
              <a:t>Từ một file 6.278 dòng</a:t>
            </a:r>
          </a:p>
          <a:p>
            <a:pPr algn="ctr"/>
            <a:r>
              <a:rPr sz="1600" b="0">
                <a:solidFill>
                  <a:srgbClr val="595959"/>
                </a:solidFill>
                <a:latin typeface="Times New Roman"/>
              </a:rPr>
              <a:t>sang hai làn + harness có lớp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217920" y="1417320"/>
            <a:ext cx="2697480" cy="37033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7223760" y="1691640"/>
            <a:ext cx="685800" cy="685800"/>
          </a:xfrm>
          <a:prstGeom prst="ellipse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30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382512" y="2606040"/>
            <a:ext cx="23682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196B24"/>
                </a:solidFill>
                <a:latin typeface="Times New Roman"/>
              </a:rPr>
              <a:t>Bốn thay đổi cốt lõi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382512" y="3474720"/>
            <a:ext cx="2368296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95959"/>
                </a:solidFill>
                <a:latin typeface="Times New Roman"/>
              </a:rPr>
              <a:t>State · Tool · Observation ·</a:t>
            </a:r>
          </a:p>
          <a:p>
            <a:pPr algn="ctr"/>
            <a:r>
              <a:rPr sz="1600" b="0">
                <a:solidFill>
                  <a:srgbClr val="595959"/>
                </a:solidFill>
                <a:latin typeface="Times New Roman"/>
              </a:rPr>
              <a:t>Provenance số liệu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9052560" y="1417320"/>
            <a:ext cx="2697480" cy="37033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0058400" y="1691640"/>
            <a:ext cx="685800" cy="685800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30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217152" y="2606040"/>
            <a:ext cx="23682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A02B93"/>
                </a:solidFill>
                <a:latin typeface="Times New Roman"/>
              </a:rPr>
              <a:t>Lộ trình &amp; phạm vi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217152" y="3474720"/>
            <a:ext cx="2368296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95959"/>
                </a:solidFill>
                <a:latin typeface="Times New Roman"/>
              </a:rPr>
              <a:t>5 giai đoạn, mỗi giai đoạn</a:t>
            </a:r>
          </a:p>
          <a:p>
            <a:pPr algn="ctr"/>
            <a:r>
              <a:rPr sz="1600" b="0">
                <a:solidFill>
                  <a:srgbClr val="595959"/>
                </a:solidFill>
                <a:latin typeface="Times New Roman"/>
              </a:rPr>
              <a:t>có điều kiện thoát đo được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48640" y="5504688"/>
            <a:ext cx="11091672" cy="914400"/>
          </a:xfrm>
          <a:prstGeom prst="roundRect">
            <a:avLst>
              <a:gd name="adj" fmla="val 18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Đề xuất kiến trúc — chưa phải quyết định. Mọi con số về code hiện tại đều kiểm chứng được.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910879" y="6492240"/>
            <a:ext cx="2170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ToxAgent Harness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1">
                <a:solidFill>
                  <a:srgbClr val="002060"/>
                </a:solidFill>
                <a:latin typeface="Times New Roman"/>
              </a:rPr>
              <a:t>1. Vì sao phải đổi — đo trên code hôm nay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548640" y="960120"/>
            <a:ext cx="2697480" cy="14173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40080" y="1060704"/>
            <a:ext cx="25146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C00000"/>
                </a:solidFill>
                <a:latin typeface="Times New Roman"/>
              </a:rPr>
              <a:t>6.278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0080" y="17373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95959"/>
                </a:solidFill>
                <a:latin typeface="Times New Roman"/>
              </a:rPr>
              <a:t>dòng trong</a:t>
            </a:r>
          </a:p>
          <a:p>
            <a:pPr algn="ctr"/>
            <a:r>
              <a:rPr sz="1500" b="0">
                <a:solidFill>
                  <a:srgbClr val="595959"/>
                </a:solidFill>
                <a:latin typeface="Times New Roman"/>
              </a:rPr>
              <a:t>model_server/main.py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383280" y="960120"/>
            <a:ext cx="2697480" cy="14173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474720" y="1060704"/>
            <a:ext cx="25146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E97132"/>
                </a:solidFill>
                <a:latin typeface="Times New Roman"/>
              </a:rPr>
              <a:t>12.265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474720" y="17373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95959"/>
                </a:solidFill>
                <a:latin typeface="Times New Roman"/>
              </a:rPr>
              <a:t>dòng Python trong</a:t>
            </a:r>
          </a:p>
          <a:p>
            <a:pPr algn="ctr"/>
            <a:r>
              <a:rPr sz="1500" b="0">
                <a:solidFill>
                  <a:srgbClr val="595959"/>
                </a:solidFill>
                <a:latin typeface="Times New Roman"/>
              </a:rPr>
              <a:t>agents / tools / model_server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217920" y="960120"/>
            <a:ext cx="2697480" cy="14173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309360" y="1060704"/>
            <a:ext cx="25146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E97132"/>
                </a:solidFill>
                <a:latin typeface="Times New Roman"/>
              </a:rPr>
              <a:t>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309360" y="17373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95959"/>
                </a:solidFill>
                <a:latin typeface="Times New Roman"/>
              </a:rPr>
              <a:t>tool call tối đa mỗi lượt</a:t>
            </a:r>
          </a:p>
          <a:p>
            <a:pPr algn="ctr"/>
            <a:r>
              <a:rPr sz="1500" b="0">
                <a:solidFill>
                  <a:srgbClr val="595959"/>
                </a:solidFill>
                <a:latin typeface="Times New Roman"/>
              </a:rPr>
              <a:t>(hằng số trong hàm)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9052560" y="960120"/>
            <a:ext cx="2697480" cy="14173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144000" y="1060704"/>
            <a:ext cx="25146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C00000"/>
                </a:solidFill>
                <a:latin typeface="Times New Roman"/>
              </a:rPr>
              <a:t>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144000" y="17373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95959"/>
                </a:solidFill>
                <a:latin typeface="Times New Roman"/>
              </a:rPr>
              <a:t>bản ghi bền vững</a:t>
            </a:r>
          </a:p>
          <a:p>
            <a:pPr algn="ctr"/>
            <a:r>
              <a:rPr sz="1500" b="0">
                <a:solidFill>
                  <a:srgbClr val="595959"/>
                </a:solidFill>
                <a:latin typeface="Times New Roman"/>
              </a:rPr>
              <a:t>sau khi process restart</a:t>
            </a:r>
          </a:p>
        </p:txBody>
      </p:sp>
      <p:graphicFrame>
        <p:nvGraphicFramePr>
          <p:cNvPr id="124" name="Table 123"/>
          <p:cNvGraphicFramePr>
            <a:graphicFrameLocks noGrp="1"/>
          </p:cNvGraphicFramePr>
          <p:nvPr/>
        </p:nvGraphicFramePr>
        <p:xfrm>
          <a:off x="548640" y="2514600"/>
          <a:ext cx="11091671" cy="3063240"/>
        </p:xfrm>
        <a:graphic>
          <a:graphicData uri="http://schemas.openxmlformats.org/drawingml/2006/table">
            <a:tbl>
              <a:tblPr firstRow="1" bandRow="0"/>
              <a:tblGrid>
                <a:gridCol w="3300001"/>
                <a:gridCol w="7791670"/>
              </a:tblGrid>
              <a:tr h="51054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Triệu chứng</a:t>
                      </a:r>
                    </a:p>
                  </a:txBody>
                  <a:tcPr marL="73152" marR="73152" marT="36576" marB="36576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Bằng chứng trong code hôm nay</a:t>
                      </a:r>
                    </a:p>
                  </a:txBody>
                  <a:tcPr marL="73152" marR="73152" marT="36576" marB="36576" anchor="ctr">
                    <a:solidFill>
                      <a:srgbClr val="0E2841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600" b="1">
                          <a:solidFill>
                            <a:srgbClr val="C00000"/>
                          </a:solidFill>
                          <a:latin typeface="Times New Roman"/>
                        </a:rPr>
                        <a:t>Prompt là một chuỗi phẳng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Times New Roman"/>
                        </a:rPr>
                        <a:t>_build_report_chat_prompt() nối "USER: … / ASSISTANT: …" — không tách được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Times New Roman"/>
                        </a:rPr>
                        <a:t>phần tĩnh khỏi phần biến động, nên không cache được prefix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600" b="1">
                          <a:solidFill>
                            <a:srgbClr val="C00000"/>
                          </a:solidFill>
                          <a:latin typeface="Times New Roman"/>
                        </a:rPr>
                        <a:t>Tool chạy bằng chuỗi if / elif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Times New Roman"/>
                        </a:rPr>
                        <a:t>_execute_report_chat_tool() — thêm một tool là sửa thân hàm;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Times New Roman"/>
                        </a:rPr>
                        <a:t>không có schema, timeout hay retry theo từng tool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600" b="1">
                          <a:solidFill>
                            <a:srgbClr val="C00000"/>
                          </a:solidFill>
                          <a:latin typeface="Times New Roman"/>
                        </a:rPr>
                        <a:t>Lịch sử chỉ nằm trong RAM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Times New Roman"/>
                        </a:rPr>
                        <a:t>_SESSION_STORE là một dict module-level; restart process hoặc đổi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Times New Roman"/>
                        </a:rPr>
                        <a:t>instance là mất toàn bộ audit trail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600" b="1">
                          <a:solidFill>
                            <a:srgbClr val="C00000"/>
                          </a:solidFill>
                          <a:latin typeface="Times New Roman"/>
                        </a:rPr>
                        <a:t>Đếm token bằng len(text) // 4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Times New Roman"/>
                        </a:rPr>
                        <a:t>estimate_context_tokens() ước lượng theo ký tự,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Times New Roman"/>
                        </a:rPr>
                        <a:t>không dùng số token thật của provider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600" b="1">
                          <a:solidFill>
                            <a:srgbClr val="C00000"/>
                          </a:solidFill>
                          <a:latin typeface="Times New Roman"/>
                        </a:rPr>
                        <a:t>Sai số thì vá bằng chuỗi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Times New Roman"/>
                        </a:rPr>
                        <a:t>_normalize_report_chat_* sửa câu trả lời SAU khi sinh —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Times New Roman"/>
                        </a:rPr>
                        <a:t>che lỗi thay vì phát hiện lỗi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5" name="Rounded Rectangle 124"/>
          <p:cNvSpPr/>
          <p:nvPr/>
        </p:nvSpPr>
        <p:spPr>
          <a:xfrm>
            <a:off x="548640" y="5760720"/>
            <a:ext cx="11091672" cy="640080"/>
          </a:xfrm>
          <a:prstGeom prst="roundRect">
            <a:avLst>
              <a:gd name="adj" fmla="val 18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Tám quyết định của một harness vẫn đang được ra — chỉ là rải rác và ẩn danh.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910879" y="6492240"/>
            <a:ext cx="2170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ToxAgent Harness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1">
                <a:solidFill>
                  <a:srgbClr val="002060"/>
                </a:solidFill>
                <a:latin typeface="Times New Roman"/>
              </a:rPr>
              <a:t>Agent  =  Model  + 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548640" y="932688"/>
            <a:ext cx="11091672" cy="73152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9FC5E8"/>
                </a:solidFill>
                <a:latin typeface="Times New Roman"/>
              </a:rPr>
              <a:t>Model</a:t>
            </a:r>
            <a:r>
              <a:rPr sz="2200" b="0">
                <a:solidFill>
                  <a:srgbClr val="FFFFFF"/>
                </a:solidFill>
                <a:latin typeface="Times New Roman"/>
              </a:rPr>
              <a:t> sinh reasoning, text và tool call.   </a:t>
            </a:r>
            <a:r>
              <a:rPr sz="2200" b="1">
                <a:solidFill>
                  <a:srgbClr val="A8E0A8"/>
                </a:solidFill>
                <a:latin typeface="Times New Roman"/>
              </a:rPr>
              <a:t>Harness</a:t>
            </a:r>
            <a:r>
              <a:rPr sz="2200" b="0">
                <a:solidFill>
                  <a:srgbClr val="FFFFFF"/>
                </a:solidFill>
                <a:latin typeface="Times New Roman"/>
              </a:rPr>
              <a:t> quyết định tám thứ còn lại.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548640" y="1874519"/>
            <a:ext cx="3520440" cy="3246120"/>
          </a:xfrm>
          <a:prstGeom prst="roundRect">
            <a:avLst>
              <a:gd name="adj" fmla="val 4000"/>
            </a:avLst>
          </a:prstGeom>
          <a:solidFill>
            <a:srgbClr val="E7F1F7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77240" y="210312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56082"/>
                </a:solidFill>
                <a:latin typeface="Times New Roman"/>
              </a:rPr>
              <a:t>MODEL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22960" y="2743200"/>
            <a:ext cx="2971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002060"/>
                </a:solidFill>
                <a:latin typeface="Times New Roman"/>
              </a:rPr>
              <a:t>• Sinh reasoning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002060"/>
                </a:solidFill>
                <a:latin typeface="Times New Roman"/>
              </a:rPr>
              <a:t>• Sinh text trả lời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002060"/>
                </a:solidFill>
                <a:latin typeface="Times New Roman"/>
              </a:rPr>
              <a:t>• Đề xuất tool call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002060"/>
                </a:solidFill>
                <a:latin typeface="Times New Roman"/>
              </a:rPr>
              <a:t>• Không sở hữu trạng thái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224528" y="3154680"/>
            <a:ext cx="566928" cy="566928"/>
          </a:xfrm>
          <a:prstGeom prst="roundRect">
            <a:avLst>
              <a:gd name="adj" fmla="val 14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3400" b="1">
                <a:solidFill>
                  <a:srgbClr val="595959"/>
                </a:solidFill>
                <a:latin typeface="Times New Roman"/>
              </a:rPr>
              <a:t>+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983480" y="1874519"/>
            <a:ext cx="6656832" cy="324612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905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212080" y="2103120"/>
            <a:ext cx="61996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96B24"/>
                </a:solidFill>
                <a:latin typeface="Times New Roman"/>
              </a:rPr>
              <a:t>HARNESS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257800" y="274320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1">
                <a:solidFill>
                  <a:srgbClr val="196B24"/>
                </a:solidFill>
                <a:latin typeface="Times New Roman"/>
              </a:rPr>
              <a:t>1. </a:t>
            </a:r>
            <a:r>
              <a:rPr sz="1700" b="0">
                <a:solidFill>
                  <a:srgbClr val="002060"/>
                </a:solidFill>
                <a:latin typeface="Times New Roman"/>
              </a:rPr>
              <a:t>Model được thấy context nào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458200" y="274320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1">
                <a:solidFill>
                  <a:srgbClr val="196B24"/>
                </a:solidFill>
                <a:latin typeface="Times New Roman"/>
              </a:rPr>
              <a:t>2. </a:t>
            </a:r>
            <a:r>
              <a:rPr sz="1700" b="0">
                <a:solidFill>
                  <a:srgbClr val="002060"/>
                </a:solidFill>
                <a:latin typeface="Times New Roman"/>
              </a:rPr>
              <a:t>Có những tool nào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57800" y="329184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1">
                <a:solidFill>
                  <a:srgbClr val="196B24"/>
                </a:solidFill>
                <a:latin typeface="Times New Roman"/>
              </a:rPr>
              <a:t>3. </a:t>
            </a:r>
            <a:r>
              <a:rPr sz="1700" b="0">
                <a:solidFill>
                  <a:srgbClr val="002060"/>
                </a:solidFill>
                <a:latin typeface="Times New Roman"/>
              </a:rPr>
              <a:t>Tool được chạy hay phải kiểm tra trước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458200" y="329184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1">
                <a:solidFill>
                  <a:srgbClr val="196B24"/>
                </a:solidFill>
                <a:latin typeface="Times New Roman"/>
              </a:rPr>
              <a:t>4. </a:t>
            </a:r>
            <a:r>
              <a:rPr sz="1700" b="0">
                <a:solidFill>
                  <a:srgbClr val="002060"/>
                </a:solidFill>
                <a:latin typeface="Times New Roman"/>
              </a:rPr>
              <a:t>Lịch sử lưu / replay / nén ra sao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257800" y="38404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1">
                <a:solidFill>
                  <a:srgbClr val="196B24"/>
                </a:solidFill>
                <a:latin typeface="Times New Roman"/>
              </a:rPr>
              <a:t>5. </a:t>
            </a:r>
            <a:r>
              <a:rPr sz="1700" b="0">
                <a:solidFill>
                  <a:srgbClr val="002060"/>
                </a:solidFill>
                <a:latin typeface="Times New Roman"/>
              </a:rPr>
              <a:t>Khi nào agent tiếp tục hay dừng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458200" y="38404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1">
                <a:solidFill>
                  <a:srgbClr val="196B24"/>
                </a:solidFill>
                <a:latin typeface="Times New Roman"/>
              </a:rPr>
              <a:t>6. </a:t>
            </a:r>
            <a:r>
              <a:rPr sz="1700" b="0">
                <a:solidFill>
                  <a:srgbClr val="002060"/>
                </a:solidFill>
                <a:latin typeface="Times New Roman"/>
              </a:rPr>
              <a:t>Có subagent / workflow không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257800" y="438912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1">
                <a:solidFill>
                  <a:srgbClr val="196B24"/>
                </a:solidFill>
                <a:latin typeface="Times New Roman"/>
              </a:rPr>
              <a:t>7. </a:t>
            </a:r>
            <a:r>
              <a:rPr sz="1700" b="0">
                <a:solidFill>
                  <a:srgbClr val="002060"/>
                </a:solidFill>
                <a:latin typeface="Times New Roman"/>
              </a:rPr>
              <a:t>Kết quả hiển thị ở đâu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458200" y="438912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1">
                <a:solidFill>
                  <a:srgbClr val="196B24"/>
                </a:solidFill>
                <a:latin typeface="Times New Roman"/>
              </a:rPr>
              <a:t>8. </a:t>
            </a:r>
            <a:r>
              <a:rPr sz="1700" b="0">
                <a:solidFill>
                  <a:srgbClr val="002060"/>
                </a:solidFill>
                <a:latin typeface="Times New Roman"/>
              </a:rPr>
              <a:t>Sandbox — ToxAgent không cần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48640" y="5321808"/>
            <a:ext cx="11091672" cy="914400"/>
          </a:xfrm>
          <a:prstGeom prst="roundRect">
            <a:avLst>
              <a:gd name="adj" fmla="val 18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ToxAgent hôm nay đã ra đủ tám quyết định này — nhưng không quyết định nào có chủ sở hữu rõ ràng.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910879" y="6492240"/>
            <a:ext cx="2170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ToxAgent Harness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1">
                <a:solidFill>
                  <a:srgbClr val="002060"/>
                </a:solidFill>
                <a:latin typeface="Times New Roman"/>
              </a:rPr>
              <a:t>Tám quyết định của harness — trước và sau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2" name="Table 111"/>
          <p:cNvGraphicFramePr>
            <a:graphicFrameLocks noGrp="1"/>
          </p:cNvGraphicFramePr>
          <p:nvPr/>
        </p:nvGraphicFramePr>
        <p:xfrm>
          <a:off x="502920" y="932688"/>
          <a:ext cx="11183110" cy="4736583"/>
        </p:xfrm>
        <a:graphic>
          <a:graphicData uri="http://schemas.openxmlformats.org/drawingml/2006/table">
            <a:tbl>
              <a:tblPr firstRow="1" bandRow="0"/>
              <a:tblGrid>
                <a:gridCol w="3299934"/>
                <a:gridCol w="4583242"/>
                <a:gridCol w="3299934"/>
              </a:tblGrid>
              <a:tr h="526287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Harness quyết định</a:t>
                      </a:r>
                    </a:p>
                  </a:txBody>
                  <a:tcPr marL="73152" marR="73152" marT="36576" marB="36576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ToxAgent hôm nay đặt ở đâu</a:t>
                      </a:r>
                    </a:p>
                  </a:txBody>
                  <a:tcPr marL="73152" marR="73152" marT="36576" marB="36576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Sau khi thiết kế lại</a:t>
                      </a:r>
                    </a:p>
                  </a:txBody>
                  <a:tcPr marL="73152" marR="73152" marT="36576" marB="36576" anchor="ctr">
                    <a:solidFill>
                      <a:srgbClr val="0E2841"/>
                    </a:solidFill>
                  </a:tcPr>
                </a:tc>
              </a:tr>
              <a:tr h="526287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600" b="1">
                          <a:solidFill>
                            <a:srgbClr val="1A1A1A"/>
                          </a:solidFill>
                          <a:latin typeface="Times New Roman"/>
                        </a:rPr>
                        <a:t>Model thấy context nào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C00000"/>
                          </a:solidFill>
                          <a:latin typeface="Times New Roman"/>
                        </a:rPr>
                        <a:t>_build_report_chat_prompt — một chuỗi phẳng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96B24"/>
                          </a:solidFill>
                          <a:latin typeface="Times New Roman"/>
                        </a:rPr>
                        <a:t>harness/prompt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6287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600" b="1">
                          <a:solidFill>
                            <a:srgbClr val="1A1A1A"/>
                          </a:solidFill>
                          <a:latin typeface="Times New Roman"/>
                        </a:rPr>
                        <a:t>Có những tool nào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C00000"/>
                          </a:solidFill>
                          <a:latin typeface="Times New Roman"/>
                        </a:rPr>
                        <a:t>Danh sách viết tay trong prompt planning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96B24"/>
                          </a:solidFill>
                          <a:latin typeface="Times New Roman"/>
                        </a:rPr>
                        <a:t>harness/tools (registry)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526287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600" b="1">
                          <a:solidFill>
                            <a:srgbClr val="1A1A1A"/>
                          </a:solidFill>
                          <a:latin typeface="Times New Roman"/>
                        </a:rPr>
                        <a:t>Tool được chạy hay phải kiểm tra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C00000"/>
                          </a:solidFill>
                          <a:latin typeface="Times New Roman"/>
                        </a:rPr>
                        <a:t>Không có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96B24"/>
                          </a:solidFill>
                          <a:latin typeface="Times New Roman"/>
                        </a:rPr>
                        <a:t>pre-execute hook: validate, quota, dedupe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6287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600" b="1">
                          <a:solidFill>
                            <a:srgbClr val="1A1A1A"/>
                          </a:solidFill>
                          <a:latin typeface="Times New Roman"/>
                        </a:rPr>
                        <a:t>Lịch sử lưu / replay / nén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C00000"/>
                          </a:solidFill>
                          <a:latin typeface="Times New Roman"/>
                        </a:rPr>
                        <a:t>_SESSION_STORE — dict trong RAM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96B24"/>
                          </a:solidFill>
                          <a:latin typeface="Times New Roman"/>
                        </a:rPr>
                        <a:t>harness/session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526287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600" b="1">
                          <a:solidFill>
                            <a:srgbClr val="1A1A1A"/>
                          </a:solidFill>
                          <a:latin typeface="Times New Roman"/>
                        </a:rPr>
                        <a:t>Khi nào tiếp tục hay dừng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C00000"/>
                          </a:solidFill>
                          <a:latin typeface="Times New Roman"/>
                        </a:rPr>
                        <a:t>max_tool_calls = 3, một vòng for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96B24"/>
                          </a:solidFill>
                          <a:latin typeface="Times New Roman"/>
                        </a:rPr>
                        <a:t>harness/loop (steps khai báo)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6287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600" b="1">
                          <a:solidFill>
                            <a:srgbClr val="1A1A1A"/>
                          </a:solidFill>
                          <a:latin typeface="Times New Roman"/>
                        </a:rPr>
                        <a:t>Có subagent / workflow không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C00000"/>
                          </a:solidFill>
                          <a:latin typeface="Times New Roman"/>
                        </a:rPr>
                        <a:t>Không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96B24"/>
                          </a:solidFill>
                          <a:latin typeface="Times New Roman"/>
                        </a:rPr>
                        <a:t>Workflow = Làn A · Subagent: không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526287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600" b="1">
                          <a:solidFill>
                            <a:srgbClr val="1A1A1A"/>
                          </a:solidFill>
                          <a:latin typeface="Times New Roman"/>
                        </a:rPr>
                        <a:t>Kết quả hiển thị ở đâu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C00000"/>
                          </a:solidFill>
                          <a:latin typeface="Times New Roman"/>
                        </a:rPr>
                        <a:t>SSE + frontend React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96B24"/>
                          </a:solidFill>
                          <a:latin typeface="Times New Roman"/>
                        </a:rPr>
                        <a:t>Giữ nguyên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6287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600" b="1">
                          <a:solidFill>
                            <a:srgbClr val="1A1A1A"/>
                          </a:solidFill>
                          <a:latin typeface="Times New Roman"/>
                        </a:rPr>
                        <a:t>Command chạy sandbox nào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C00000"/>
                          </a:solidFill>
                          <a:latin typeface="Times New Roman"/>
                        </a:rPr>
                        <a:t>Không chạy mã người dùng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96B24"/>
                          </a:solidFill>
                          <a:latin typeface="Times New Roman"/>
                        </a:rPr>
                        <a:t>Bỏ hẳn khỏi phạm vi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3" name="Rounded Rectangle 112"/>
          <p:cNvSpPr/>
          <p:nvPr/>
        </p:nvSpPr>
        <p:spPr>
          <a:xfrm>
            <a:off x="548640" y="5779007"/>
            <a:ext cx="11091672" cy="640080"/>
          </a:xfrm>
          <a:prstGeom prst="roundRect">
            <a:avLst>
              <a:gd name="adj" fmla="val 18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Thiết kế lại = cho mỗi quyết định một chủ sở hữu có tên, không viết lại thuật toán khoa học.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910879" y="6492240"/>
            <a:ext cx="2170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ToxAgent Harness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0" y="2148840"/>
            <a:ext cx="12191969" cy="17373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22960" y="230428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9FC5E8"/>
                </a:solidFill>
                <a:latin typeface="Times New Roman"/>
              </a:rPr>
              <a:t>PHẦN 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8640" y="2697480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Times New Roman"/>
              </a:rPr>
              <a:t>Kiến trúc: trước và sau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4069080"/>
            <a:ext cx="999439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95959"/>
                </a:solidFill>
                <a:latin typeface="Times New Roman"/>
              </a:rPr>
              <a:t>Từ một file 6.278 dòng sang hai làn tách bạch, có lớp và có luật phụ thuộc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910879" y="6492240"/>
            <a:ext cx="2170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ToxAgent Harness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1">
                <a:solidFill>
                  <a:srgbClr val="C00000"/>
                </a:solidFill>
                <a:latin typeface="Times New Roman"/>
              </a:rPr>
              <a:t>TRƯỚC — kiến trúc hôm nay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548640" y="932688"/>
            <a:ext cx="11091672" cy="475488"/>
          </a:xfrm>
          <a:prstGeom prst="roundRect">
            <a:avLst>
              <a:gd name="adj" fmla="val 14000"/>
            </a:avLst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Frontend React  →  FastAPI  /agent/analyze · /report-chat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548640" y="1600200"/>
            <a:ext cx="11091672" cy="2514600"/>
          </a:xfrm>
          <a:prstGeom prst="roundRect">
            <a:avLst>
              <a:gd name="adj" fmla="val 4000"/>
            </a:avLst>
          </a:prstGeom>
          <a:solidFill>
            <a:srgbClr val="FDF1F0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77240" y="1737360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C00000"/>
                </a:solidFill>
                <a:latin typeface="Times New Roman"/>
              </a:rPr>
              <a:t>model_server/main.py — 6.278 dòng, mọi quyết định nằm chung một chỗ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777240" y="2212848"/>
            <a:ext cx="3429000" cy="8046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02060"/>
                </a:solidFill>
                <a:latin typeface="Times New Roman"/>
              </a:rPr>
              <a:t>_build_report_chat_prompt</a:t>
            </a:r>
          </a:p>
          <a:p>
            <a:pPr algn="ctr">
              <a:lnSpc>
                <a:spcPct val="95000"/>
              </a:lnSpc>
            </a:pPr>
            <a:r>
              <a:rPr sz="1250" b="0">
                <a:solidFill>
                  <a:srgbClr val="002060"/>
                </a:solidFill>
                <a:latin typeface="Times New Roman"/>
              </a:rPr>
              <a:t>chuỗi phẳng</a:t>
            </a:r>
          </a:p>
          <a:p>
            <a:pPr algn="ctr">
              <a:lnSpc>
                <a:spcPct val="95000"/>
              </a:lnSpc>
            </a:pPr>
            <a:r>
              <a:rPr sz="1250" b="0">
                <a:solidFill>
                  <a:srgbClr val="002060"/>
                </a:solidFill>
                <a:latin typeface="Times New Roman"/>
              </a:rPr>
              <a:t>USER: … ASSISTANT: …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389120" y="2212848"/>
            <a:ext cx="3429000" cy="8046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02060"/>
                </a:solidFill>
                <a:latin typeface="Times New Roman"/>
              </a:rPr>
              <a:t>_plan_report_chat_tool_call</a:t>
            </a:r>
          </a:p>
          <a:p>
            <a:pPr algn="ctr">
              <a:lnSpc>
                <a:spcPct val="95000"/>
              </a:lnSpc>
            </a:pPr>
            <a:r>
              <a:rPr sz="1250" b="0">
                <a:solidFill>
                  <a:srgbClr val="002060"/>
                </a:solidFill>
                <a:latin typeface="Times New Roman"/>
              </a:rPr>
              <a:t>planner bằng prompt</a:t>
            </a:r>
          </a:p>
          <a:p>
            <a:pPr algn="ctr">
              <a:lnSpc>
                <a:spcPct val="95000"/>
              </a:lnSpc>
            </a:pPr>
            <a:r>
              <a:rPr sz="1250" b="0">
                <a:solidFill>
                  <a:srgbClr val="002060"/>
                </a:solidFill>
                <a:latin typeface="Times New Roman"/>
              </a:rPr>
              <a:t>+ heuristic tách rời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001000" y="2212848"/>
            <a:ext cx="3429000" cy="8046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02060"/>
                </a:solidFill>
                <a:latin typeface="Times New Roman"/>
              </a:rPr>
              <a:t>_execute_report_chat_tool</a:t>
            </a:r>
          </a:p>
          <a:p>
            <a:pPr algn="ctr">
              <a:lnSpc>
                <a:spcPct val="95000"/>
              </a:lnSpc>
            </a:pPr>
            <a:r>
              <a:rPr sz="1250" b="0">
                <a:solidFill>
                  <a:srgbClr val="002060"/>
                </a:solidFill>
                <a:latin typeface="Times New Roman"/>
              </a:rPr>
              <a:t>chuỗi if / elif</a:t>
            </a:r>
          </a:p>
          <a:p>
            <a:pPr algn="ctr">
              <a:lnSpc>
                <a:spcPct val="95000"/>
              </a:lnSpc>
            </a:pPr>
            <a:r>
              <a:rPr sz="1250" b="0">
                <a:solidFill>
                  <a:srgbClr val="002060"/>
                </a:solidFill>
                <a:latin typeface="Times New Roman"/>
              </a:rPr>
              <a:t>không schema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777240" y="3127248"/>
            <a:ext cx="3429000" cy="8046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02060"/>
                </a:solidFill>
                <a:latin typeface="Times New Roman"/>
              </a:rPr>
              <a:t>_make_report_chat_llm_caller</a:t>
            </a:r>
          </a:p>
          <a:p>
            <a:pPr algn="ctr">
              <a:lnSpc>
                <a:spcPct val="95000"/>
              </a:lnSpc>
            </a:pPr>
            <a:r>
              <a:rPr sz="1250" b="0">
                <a:solidFill>
                  <a:srgbClr val="002060"/>
                </a:solidFill>
                <a:latin typeface="Times New Roman"/>
              </a:rPr>
              <a:t>vòng for</a:t>
            </a:r>
          </a:p>
          <a:p>
            <a:pPr algn="ctr">
              <a:lnSpc>
                <a:spcPct val="95000"/>
              </a:lnSpc>
            </a:pPr>
            <a:r>
              <a:rPr sz="1250" b="0">
                <a:solidFill>
                  <a:srgbClr val="002060"/>
                </a:solidFill>
                <a:latin typeface="Times New Roman"/>
              </a:rPr>
              <a:t>max_tool_calls = 3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389120" y="3127248"/>
            <a:ext cx="3429000" cy="8046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02060"/>
                </a:solidFill>
                <a:latin typeface="Times New Roman"/>
              </a:rPr>
              <a:t>_trim_history_to_budget</a:t>
            </a:r>
          </a:p>
          <a:p>
            <a:pPr algn="ctr">
              <a:lnSpc>
                <a:spcPct val="95000"/>
              </a:lnSpc>
            </a:pPr>
            <a:r>
              <a:rPr sz="1250" b="0">
                <a:solidFill>
                  <a:srgbClr val="002060"/>
                </a:solidFill>
                <a:latin typeface="Times New Roman"/>
              </a:rPr>
              <a:t>cắt cặp lượt cũ</a:t>
            </a:r>
          </a:p>
          <a:p>
            <a:pPr algn="ctr">
              <a:lnSpc>
                <a:spcPct val="95000"/>
              </a:lnSpc>
            </a:pPr>
            <a:r>
              <a:rPr sz="1250" b="0">
                <a:solidFill>
                  <a:srgbClr val="002060"/>
                </a:solidFill>
                <a:latin typeface="Times New Roman"/>
              </a:rPr>
              <a:t>len(text) // 4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001000" y="3127248"/>
            <a:ext cx="3429000" cy="8046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02060"/>
                </a:solidFill>
                <a:latin typeface="Times New Roman"/>
              </a:rPr>
              <a:t>_normalize_report_chat_*</a:t>
            </a:r>
          </a:p>
          <a:p>
            <a:pPr algn="ctr">
              <a:lnSpc>
                <a:spcPct val="95000"/>
              </a:lnSpc>
            </a:pPr>
            <a:r>
              <a:rPr sz="1250" b="0">
                <a:solidFill>
                  <a:srgbClr val="002060"/>
                </a:solidFill>
                <a:latin typeface="Times New Roman"/>
              </a:rPr>
              <a:t>vá chuỗi</a:t>
            </a:r>
          </a:p>
          <a:p>
            <a:pPr algn="ctr">
              <a:lnSpc>
                <a:spcPct val="95000"/>
              </a:lnSpc>
            </a:pPr>
            <a:r>
              <a:rPr sz="1250" b="0">
                <a:solidFill>
                  <a:srgbClr val="002060"/>
                </a:solidFill>
                <a:latin typeface="Times New Roman"/>
              </a:rPr>
              <a:t>sau khi sinh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48640" y="4315968"/>
            <a:ext cx="3520440" cy="868680"/>
          </a:xfrm>
          <a:prstGeom prst="roundRect">
            <a:avLst>
              <a:gd name="adj" fmla="val 14000"/>
            </a:avLst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02060"/>
                </a:solidFill>
                <a:latin typeface="Times New Roman"/>
              </a:rPr>
              <a:t>agents/report_chat_agent.py</a:t>
            </a:r>
          </a:p>
          <a:p>
            <a:pPr algn="ctr">
              <a:lnSpc>
                <a:spcPct val="95000"/>
              </a:lnSpc>
            </a:pPr>
            <a:r>
              <a:rPr sz="1250" b="0">
                <a:solidFill>
                  <a:srgbClr val="002060"/>
                </a:solidFill>
                <a:latin typeface="Times New Roman"/>
              </a:rPr>
              <a:t>_SESSION_STORE = {}  · dict trong RAM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343400" y="4315968"/>
            <a:ext cx="3520440" cy="86868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 w="1905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02060"/>
                </a:solidFill>
                <a:latin typeface="Times New Roman"/>
              </a:rPr>
              <a:t>agents/orchestrator_agent.py</a:t>
            </a:r>
          </a:p>
          <a:p>
            <a:pPr algn="ctr">
              <a:lnSpc>
                <a:spcPct val="95000"/>
              </a:lnSpc>
            </a:pPr>
            <a:r>
              <a:rPr sz="1250" b="0">
                <a:solidFill>
                  <a:srgbClr val="002060"/>
                </a:solidFill>
                <a:latin typeface="Times New Roman"/>
              </a:rPr>
              <a:t>run_orchestrator_flow() — pipeline khoa học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119872" y="4315968"/>
            <a:ext cx="3520440" cy="868680"/>
          </a:xfrm>
          <a:prstGeom prst="roundRect">
            <a:avLst>
              <a:gd name="adj" fmla="val 14000"/>
            </a:avLst>
          </a:prstGeom>
          <a:solidFill>
            <a:srgbClr val="FBE9E7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02060"/>
                </a:solidFill>
                <a:latin typeface="Times New Roman"/>
              </a:rPr>
              <a:t>tools/tox_tools.py</a:t>
            </a:r>
          </a:p>
          <a:p>
            <a:pPr algn="ctr">
              <a:lnSpc>
                <a:spcPct val="95000"/>
              </a:lnSpc>
            </a:pPr>
            <a:r>
              <a:rPr sz="1250" b="0">
                <a:solidFill>
                  <a:srgbClr val="002060"/>
                </a:solidFill>
                <a:latin typeface="Times New Roman"/>
              </a:rPr>
              <a:t>POST /analyze về CHÍNH process này</a:t>
            </a:r>
          </a:p>
        </p:txBody>
      </p:sp>
      <p:cxnSp>
        <p:nvCxnSpPr>
          <p:cNvPr id="124" name="Connector 123"/>
          <p:cNvCxnSpPr/>
          <p:nvPr/>
        </p:nvCxnSpPr>
        <p:spPr>
          <a:xfrm flipV="1">
            <a:off x="9875520" y="1463040"/>
            <a:ext cx="0" cy="2852928"/>
          </a:xfrm>
          <a:prstGeom prst="line">
            <a:avLst/>
          </a:prstGeom>
          <a:ln w="25400">
            <a:prstDash val="dash"/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8686800" y="1463040"/>
            <a:ext cx="1188720" cy="0"/>
          </a:xfrm>
          <a:prstGeom prst="line">
            <a:avLst/>
          </a:prstGeom>
          <a:ln w="25400">
            <a:prstDash val="dash"/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686800" y="1408176"/>
            <a:ext cx="0" cy="54864"/>
          </a:xfrm>
          <a:prstGeom prst="line">
            <a:avLst/>
          </a:prstGeom>
          <a:ln w="25400">
            <a:prstDash val="dash"/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8778240" y="3749039"/>
            <a:ext cx="283464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Times New Roman"/>
              </a:rPr>
              <a:t>timeout 240s lồng nhau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Chỉ một phần đáng giữ nguyên: run_orchestrator_flow — pipeline khoa học xác định.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910879" y="6492240"/>
            <a:ext cx="2170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ToxAgent Harness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1">
                <a:solidFill>
                  <a:srgbClr val="196B24"/>
                </a:solidFill>
                <a:latin typeface="Times New Roman"/>
              </a:rPr>
              <a:t>SAU — kiến trúc harness đề xuất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548640" y="914400"/>
            <a:ext cx="11091672" cy="420624"/>
          </a:xfrm>
          <a:prstGeom prst="roundRect">
            <a:avLst>
              <a:gd name="adj" fmla="val 14000"/>
            </a:avLst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Frontend React · CLI · client sinh từ OpenAPI  —  chỉ là consumer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548640" y="1463040"/>
            <a:ext cx="11091672" cy="420624"/>
          </a:xfrm>
          <a:prstGeom prst="roundRect">
            <a:avLst>
              <a:gd name="adj" fmla="val 14000"/>
            </a:avLst>
          </a:prstGeom>
          <a:solidFill>
            <a:srgbClr val="E7F1F7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model_server/ — FastAPI transport mỏng (HTTP + SSE + OpenAPI)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160520" y="2011680"/>
            <a:ext cx="3840480" cy="457200"/>
          </a:xfrm>
          <a:prstGeom prst="roundRect">
            <a:avLst>
              <a:gd name="adj" fmla="val 14000"/>
            </a:avLst>
          </a:prstGeom>
          <a:solidFill>
            <a:srgbClr val="FFF2CC"/>
          </a:solidFill>
          <a:ln w="1905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harness/router.py — phân làn deterministic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6080760" y="1883664"/>
            <a:ext cx="0" cy="128016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ounded Rectangle 115"/>
          <p:cNvSpPr/>
          <p:nvPr/>
        </p:nvSpPr>
        <p:spPr>
          <a:xfrm>
            <a:off x="548640" y="2788920"/>
            <a:ext cx="4892040" cy="201168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2286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31520" y="2907792"/>
            <a:ext cx="4526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196B24"/>
                </a:solidFill>
                <a:latin typeface="Times New Roman"/>
              </a:rPr>
              <a:t>LÀN A — workflow xác định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22960" y="3383280"/>
            <a:ext cx="43434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0">
                <a:solidFill>
                  <a:srgbClr val="002060"/>
                </a:solidFill>
                <a:latin typeface="Times New Roman"/>
              </a:rPr>
              <a:t>• run_orchestrator_flow() giữ nguyên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0">
                <a:solidFill>
                  <a:srgbClr val="002060"/>
                </a:solidFill>
                <a:latin typeface="Times New Roman"/>
              </a:rPr>
              <a:t>• SMILES · tên · ảnh · batch · benchmark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0">
                <a:solidFill>
                  <a:srgbClr val="002060"/>
                </a:solidFill>
                <a:latin typeface="Times New Roman"/>
              </a:rPr>
              <a:t>• Kết quả tái lập được, không agent-hoá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748272" y="2788920"/>
            <a:ext cx="4892040" cy="2011680"/>
          </a:xfrm>
          <a:prstGeom prst="roundRect">
            <a:avLst>
              <a:gd name="adj" fmla="val 4000"/>
            </a:avLst>
          </a:prstGeom>
          <a:solidFill>
            <a:srgbClr val="E7F1F7"/>
          </a:solidFill>
          <a:ln w="2286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931152" y="2907792"/>
            <a:ext cx="4526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156082"/>
                </a:solidFill>
                <a:latin typeface="Times New Roman"/>
              </a:rPr>
              <a:t>LÀN B — harness loop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022592" y="3383280"/>
            <a:ext cx="43434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0">
                <a:solidFill>
                  <a:srgbClr val="002060"/>
                </a:solidFill>
                <a:latin typeface="Times New Roman"/>
              </a:rPr>
              <a:t>• Hỏi đáp trên report đang mở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0">
                <a:solidFill>
                  <a:srgbClr val="002060"/>
                </a:solidFill>
                <a:latin typeface="Times New Roman"/>
              </a:rPr>
              <a:t>• Native function calling + tool registry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0">
                <a:solidFill>
                  <a:srgbClr val="002060"/>
                </a:solidFill>
                <a:latin typeface="Times New Roman"/>
              </a:rPr>
              <a:t>• Gọi Làn A qua tool run_full_analysis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5120640" y="2468880"/>
            <a:ext cx="0" cy="164592"/>
          </a:xfrm>
          <a:prstGeom prst="line">
            <a:avLst/>
          </a:prstGeom>
          <a:ln w="25400">
            <a:solidFill>
              <a:srgbClr val="196B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>
            <a:off x="2990088" y="2633472"/>
            <a:ext cx="2130552" cy="0"/>
          </a:xfrm>
          <a:prstGeom prst="line">
            <a:avLst/>
          </a:prstGeom>
          <a:ln w="25400">
            <a:solidFill>
              <a:srgbClr val="196B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2990088" y="2633472"/>
            <a:ext cx="0" cy="155448"/>
          </a:xfrm>
          <a:prstGeom prst="line">
            <a:avLst/>
          </a:prstGeom>
          <a:ln w="25400">
            <a:solidFill>
              <a:srgbClr val="196B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7040880" y="2468880"/>
            <a:ext cx="0" cy="164592"/>
          </a:xfrm>
          <a:prstGeom prst="line">
            <a:avLst/>
          </a:prstGeom>
          <a:ln w="2540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7040880" y="2633472"/>
            <a:ext cx="2148840" cy="0"/>
          </a:xfrm>
          <a:prstGeom prst="line">
            <a:avLst/>
          </a:prstGeom>
          <a:ln w="2540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189720" y="2633472"/>
            <a:ext cx="0" cy="155448"/>
          </a:xfrm>
          <a:prstGeom prst="line">
            <a:avLst/>
          </a:prstGeom>
          <a:ln w="25400">
            <a:solidFill>
              <a:srgbClr val="1560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1965960" y="2395728"/>
            <a:ext cx="237744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96B24"/>
                </a:solidFill>
                <a:latin typeface="Times New Roman"/>
              </a:rPr>
              <a:t>SMILES / batch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366760" y="2395728"/>
            <a:ext cx="237744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56082"/>
                </a:solidFill>
                <a:latin typeface="Times New Roman"/>
              </a:rPr>
              <a:t>câu hỏi về report</a:t>
            </a:r>
          </a:p>
        </p:txBody>
      </p:sp>
      <p:cxnSp>
        <p:nvCxnSpPr>
          <p:cNvPr id="130" name="Connector 129"/>
          <p:cNvCxnSpPr/>
          <p:nvPr/>
        </p:nvCxnSpPr>
        <p:spPr>
          <a:xfrm flipH="1">
            <a:off x="5440680" y="3931920"/>
            <a:ext cx="1307592" cy="0"/>
          </a:xfrm>
          <a:prstGeom prst="line">
            <a:avLst/>
          </a:prstGeom>
          <a:ln w="31750">
            <a:solidFill>
              <a:srgbClr val="A02B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5504688" y="3401568"/>
            <a:ext cx="11887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A02B93"/>
                </a:solidFill>
                <a:latin typeface="Times New Roman"/>
              </a:rPr>
              <a:t>run_full_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A02B93"/>
                </a:solidFill>
                <a:latin typeface="Times New Roman"/>
              </a:rPr>
              <a:t>analysis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48640" y="4882896"/>
            <a:ext cx="11091672" cy="841248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685800" y="4956048"/>
            <a:ext cx="1536192" cy="6949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350" b="1">
                <a:solidFill>
                  <a:srgbClr val="002060"/>
                </a:solidFill>
                <a:latin typeface="Times New Roman"/>
              </a:rPr>
              <a:t>session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2060"/>
                </a:solidFill>
                <a:latin typeface="Times New Roman"/>
              </a:rPr>
              <a:t>message / part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2060"/>
                </a:solidFill>
                <a:latin typeface="Times New Roman"/>
              </a:rPr>
              <a:t>change feed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2276856" y="4956048"/>
            <a:ext cx="1536192" cy="6949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350" b="1">
                <a:solidFill>
                  <a:srgbClr val="002060"/>
                </a:solidFill>
                <a:latin typeface="Times New Roman"/>
              </a:rPr>
              <a:t>prompt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2060"/>
                </a:solidFill>
                <a:latin typeface="Times New Roman"/>
              </a:rPr>
              <a:t>static rồi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2060"/>
                </a:solidFill>
                <a:latin typeface="Times New Roman"/>
              </a:rPr>
              <a:t>volatile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3867912" y="4956048"/>
            <a:ext cx="1536192" cy="6949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350" b="1">
                <a:solidFill>
                  <a:srgbClr val="002060"/>
                </a:solidFill>
                <a:latin typeface="Times New Roman"/>
              </a:rPr>
              <a:t>tools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2060"/>
                </a:solidFill>
                <a:latin typeface="Times New Roman"/>
              </a:rPr>
              <a:t>registry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2060"/>
                </a:solidFill>
                <a:latin typeface="Times New Roman"/>
              </a:rPr>
              <a:t>+ pipeline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458968" y="4956048"/>
            <a:ext cx="1536192" cy="6949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350" b="1">
                <a:solidFill>
                  <a:srgbClr val="002060"/>
                </a:solidFill>
                <a:latin typeface="Times New Roman"/>
              </a:rPr>
              <a:t>loop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2060"/>
                </a:solidFill>
                <a:latin typeface="Times New Roman"/>
              </a:rPr>
              <a:t>turn / step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2060"/>
                </a:solidFill>
                <a:latin typeface="Times New Roman"/>
              </a:rPr>
              <a:t>stopping policy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7050024" y="4956048"/>
            <a:ext cx="1536192" cy="6949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350" b="1">
                <a:solidFill>
                  <a:srgbClr val="002060"/>
                </a:solidFill>
                <a:latin typeface="Times New Roman"/>
              </a:rPr>
              <a:t>provenance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2060"/>
                </a:solidFill>
                <a:latin typeface="Times New Roman"/>
              </a:rPr>
              <a:t>numeric index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2060"/>
                </a:solidFill>
                <a:latin typeface="Times New Roman"/>
              </a:rPr>
              <a:t>+ validator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8641080" y="4956048"/>
            <a:ext cx="1536192" cy="6949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350" b="1">
                <a:solidFill>
                  <a:srgbClr val="002060"/>
                </a:solidFill>
                <a:latin typeface="Times New Roman"/>
              </a:rPr>
              <a:t>llm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2060"/>
                </a:solidFill>
                <a:latin typeface="Times New Roman"/>
              </a:rPr>
              <a:t>provider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2060"/>
                </a:solidFill>
                <a:latin typeface="Times New Roman"/>
              </a:rPr>
              <a:t>adapter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0232136" y="4956048"/>
            <a:ext cx="1536192" cy="6949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350" b="1">
                <a:solidFill>
                  <a:srgbClr val="002060"/>
                </a:solidFill>
                <a:latin typeface="Times New Roman"/>
              </a:rPr>
              <a:t>budget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2060"/>
                </a:solidFill>
                <a:latin typeface="Times New Roman"/>
              </a:rPr>
              <a:t>token meter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2060"/>
                </a:solidFill>
                <a:latin typeface="Times New Roman"/>
              </a:rPr>
              <a:t>+ compaction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48640" y="5779007"/>
            <a:ext cx="11091672" cy="640080"/>
          </a:xfrm>
          <a:prstGeom prst="roundRect">
            <a:avLst>
              <a:gd name="adj" fmla="val 18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Luật CI cưỡng chế: harness/ không được import agents/ hay model_server/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910879" y="6492240"/>
            <a:ext cx="2170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ToxAgent Harness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1">
                <a:solidFill>
                  <a:srgbClr val="002060"/>
                </a:solidFill>
                <a:latin typeface="Times New Roman"/>
              </a:rPr>
              <a:t>Router deterministic — LLM không được tự chọn làn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2" name="Table 111"/>
          <p:cNvGraphicFramePr>
            <a:graphicFrameLocks noGrp="1"/>
          </p:cNvGraphicFramePr>
          <p:nvPr/>
        </p:nvGraphicFramePr>
        <p:xfrm>
          <a:off x="777240" y="960120"/>
          <a:ext cx="10634471" cy="3246117"/>
        </p:xfrm>
        <a:graphic>
          <a:graphicData uri="http://schemas.openxmlformats.org/drawingml/2006/table">
            <a:tbl>
              <a:tblPr firstRow="1" bandRow="0"/>
              <a:tblGrid>
                <a:gridCol w="4217118"/>
                <a:gridCol w="1100117"/>
                <a:gridCol w="5317236"/>
              </a:tblGrid>
              <a:tr h="463731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</a:rPr>
                        <a:t>Input đã chuẩn hoá</a:t>
                      </a:r>
                    </a:p>
                  </a:txBody>
                  <a:tcPr marL="73152" marR="73152" marT="36576" marB="36576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</a:rPr>
                        <a:t>Làn</a:t>
                      </a:r>
                    </a:p>
                  </a:txBody>
                  <a:tcPr marL="73152" marR="73152" marT="36576" marB="36576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</a:rPr>
                        <a:t>Hành động trước khi chạy</a:t>
                      </a:r>
                    </a:p>
                  </a:txBody>
                  <a:tcPr marL="73152" marR="73152" marT="36576" marB="36576" anchor="ctr">
                    <a:solidFill>
                      <a:srgbClr val="0E2841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700" b="1">
                          <a:solidFill>
                            <a:srgbClr val="1A1A1A"/>
                          </a:solidFill>
                          <a:latin typeface="Times New Roman"/>
                        </a:rPr>
                        <a:t>SMILES hợp lệ, không kèm câu hỏi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700" b="0">
                          <a:solidFill>
                            <a:srgbClr val="196B24"/>
                          </a:solidFill>
                          <a:latin typeface="Times New Roman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700" b="0">
                          <a:solidFill>
                            <a:srgbClr val="1A1A1A"/>
                          </a:solidFill>
                          <a:latin typeface="Times New Roman"/>
                        </a:rPr>
                        <a:t>Validate và canonicalize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700" b="1">
                          <a:solidFill>
                            <a:srgbClr val="1A1A1A"/>
                          </a:solidFill>
                          <a:latin typeface="Times New Roman"/>
                        </a:rPr>
                        <a:t>Ảnh cấu trúc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700" b="0">
                          <a:solidFill>
                            <a:srgbClr val="196B24"/>
                          </a:solidFill>
                          <a:latin typeface="Times New Roman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700" b="0">
                          <a:solidFill>
                            <a:srgbClr val="1A1A1A"/>
                          </a:solidFill>
                          <a:latin typeface="Times New Roman"/>
                        </a:rPr>
                        <a:t>Trích xuất SMILES bằng MolScribe, rồi validate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700" b="1">
                          <a:solidFill>
                            <a:srgbClr val="1A1A1A"/>
                          </a:solidFill>
                          <a:latin typeface="Times New Roman"/>
                        </a:rPr>
                        <a:t>Tên hợp chất phân giải được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700" b="0">
                          <a:solidFill>
                            <a:srgbClr val="196B24"/>
                          </a:solidFill>
                          <a:latin typeface="Times New Roman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700" b="0">
                          <a:solidFill>
                            <a:srgbClr val="1A1A1A"/>
                          </a:solidFill>
                          <a:latin typeface="Times New Roman"/>
                        </a:rPr>
                        <a:t>resolve_compound, rồi validate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700" b="1">
                          <a:solidFill>
                            <a:srgbClr val="1A1A1A"/>
                          </a:solidFill>
                          <a:latin typeface="Times New Roman"/>
                        </a:rPr>
                        <a:t>Batch nhiều phân tử / benchmark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700" b="0">
                          <a:solidFill>
                            <a:srgbClr val="196B24"/>
                          </a:solidFill>
                          <a:latin typeface="Times New Roman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700" b="0">
                          <a:solidFill>
                            <a:srgbClr val="1A1A1A"/>
                          </a:solidFill>
                          <a:latin typeface="Times New Roman"/>
                        </a:rPr>
                        <a:t>Không bao giờ chuyển sang Làn B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700" b="1">
                          <a:solidFill>
                            <a:srgbClr val="1A1A1A"/>
                          </a:solidFill>
                          <a:latin typeface="Times New Roman"/>
                        </a:rPr>
                        <a:t>Câu hỏi khi có report đang mở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700" b="0">
                          <a:solidFill>
                            <a:srgbClr val="156082"/>
                          </a:solidFill>
                          <a:latin typeface="Times New Roman"/>
                        </a:rPr>
                        <a:t>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700" b="0">
                          <a:solidFill>
                            <a:srgbClr val="1A1A1A"/>
                          </a:solidFill>
                          <a:latin typeface="Times New Roman"/>
                        </a:rPr>
                        <a:t>Dựng context từ session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700" b="1">
                          <a:solidFill>
                            <a:srgbClr val="1A1A1A"/>
                          </a:solidFill>
                          <a:latin typeface="Times New Roman"/>
                        </a:rPr>
                        <a:t>Mọi input còn lại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700" b="0">
                          <a:solidFill>
                            <a:srgbClr val="156082"/>
                          </a:solidFill>
                          <a:latin typeface="Times New Roman"/>
                        </a:rPr>
                        <a:t>B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700" b="0">
                          <a:solidFill>
                            <a:srgbClr val="1A1A1A"/>
                          </a:solidFill>
                          <a:latin typeface="Times New Roman"/>
                        </a:rPr>
                        <a:t>Hỏi làm rõ, hoặc dùng tool được cấp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3" name="Rounded Rectangle 112"/>
          <p:cNvSpPr/>
          <p:nvPr/>
        </p:nvSpPr>
        <p:spPr>
          <a:xfrm>
            <a:off x="777240" y="4434840"/>
            <a:ext cx="10634472" cy="10515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05840" y="4572000"/>
            <a:ext cx="101772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Bất biến:  </a:t>
            </a:r>
            <a:r>
              <a:rPr sz="1900" b="0">
                <a:solidFill>
                  <a:srgbClr val="002060"/>
                </a:solidFill>
                <a:latin typeface="Times New Roman"/>
              </a:rPr>
              <a:t>_looks_like_smiles chỉ được nhận diện cú pháp SMILES — không kiêm phân loại ý định, không từ chối tên hợp chất viết thường. Router phải có unit test.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48640" y="5687568"/>
            <a:ext cx="11091672" cy="640080"/>
          </a:xfrm>
          <a:prstGeom prst="roundRect">
            <a:avLst>
              <a:gd name="adj" fmla="val 18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Tắt một khả năng = bỏ nó khỏi tool catalog, không phải viết thêm câu trong prompt.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910879" y="6492240"/>
            <a:ext cx="2170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ToxAgent Harness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1">
                <a:solidFill>
                  <a:srgbClr val="002060"/>
                </a:solidFill>
                <a:latin typeface="Times New Roman"/>
              </a:rPr>
              <a:t>Vòng lặp Làn B: từ planner-prompt sang harness loop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548640" y="932688"/>
            <a:ext cx="5577840" cy="4526280"/>
          </a:xfrm>
          <a:prstGeom prst="roundRect">
            <a:avLst>
              <a:gd name="adj" fmla="val 4000"/>
            </a:avLst>
          </a:prstGeom>
          <a:solidFill>
            <a:srgbClr val="FD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6062472" y="932688"/>
            <a:ext cx="5577840" cy="4526280"/>
          </a:xfrm>
          <a:prstGeom prst="roundRect">
            <a:avLst>
              <a:gd name="adj" fmla="val 4000"/>
            </a:avLst>
          </a:prstGeom>
          <a:solidFill>
            <a:srgbClr val="F1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548640" y="932688"/>
            <a:ext cx="5577840" cy="475488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TRƯỚC — hôm nay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062472" y="932688"/>
            <a:ext cx="5577840" cy="475488"/>
          </a:xfrm>
          <a:prstGeom prst="roundRect">
            <a:avLst>
              <a:gd name="adj" fmla="val 20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SAU — kiến trúc harness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49808" y="1536192"/>
            <a:ext cx="5175503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02060"/>
                </a:solidFill>
                <a:latin typeface="Times New Roman"/>
              </a:rPr>
              <a:t/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14400" y="1609344"/>
            <a:ext cx="47548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00000"/>
                </a:solidFill>
                <a:latin typeface="Times New Roman"/>
              </a:rPr>
              <a:t>1.  </a:t>
            </a:r>
            <a:r>
              <a:rPr sz="1600" b="0">
                <a:solidFill>
                  <a:srgbClr val="002060"/>
                </a:solidFill>
                <a:latin typeface="Times New Roman"/>
              </a:rPr>
              <a:t>Nối lịch sử thành một chuỗi phẳng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</a:rPr>
              <a:t>     "USER: … / ASSISTANT: …"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749808" y="2176272"/>
            <a:ext cx="5175503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02060"/>
                </a:solidFill>
                <a:latin typeface="Times New Roman"/>
              </a:rPr>
              <a:t/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4400" y="2249424"/>
            <a:ext cx="47548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00000"/>
                </a:solidFill>
                <a:latin typeface="Times New Roman"/>
              </a:rPr>
              <a:t>2.  </a:t>
            </a:r>
            <a:r>
              <a:rPr sz="1600" b="0">
                <a:solidFill>
                  <a:srgbClr val="002060"/>
                </a:solidFill>
                <a:latin typeface="Times New Roman"/>
              </a:rPr>
              <a:t>Gọi LLM lần 1 để LẬP KẾ HOẠCH tool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</a:rPr>
              <a:t>     (prompt planning + heuristic dự phòng)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49808" y="2816352"/>
            <a:ext cx="5175503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02060"/>
                </a:solidFill>
                <a:latin typeface="Times New Roman"/>
              </a:rPr>
              <a:t/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4400" y="2889504"/>
            <a:ext cx="47548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00000"/>
                </a:solidFill>
                <a:latin typeface="Times New Roman"/>
              </a:rPr>
              <a:t>3.  </a:t>
            </a:r>
            <a:r>
              <a:rPr sz="1600" b="0">
                <a:solidFill>
                  <a:srgbClr val="002060"/>
                </a:solidFill>
                <a:latin typeface="Times New Roman"/>
              </a:rPr>
              <a:t>Thực thi tool bằng chuỗi if / elif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49808" y="3456432"/>
            <a:ext cx="5175503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02060"/>
                </a:solidFill>
                <a:latin typeface="Times New Roman"/>
              </a:rPr>
              <a:t/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14400" y="3529584"/>
            <a:ext cx="47548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00000"/>
                </a:solidFill>
                <a:latin typeface="Times New Roman"/>
              </a:rPr>
              <a:t>4.  </a:t>
            </a:r>
            <a:r>
              <a:rPr sz="1600" b="0">
                <a:solidFill>
                  <a:srgbClr val="002060"/>
                </a:solidFill>
                <a:latin typeface="Times New Roman"/>
              </a:rPr>
              <a:t>Cắt kết quả tool ở 1.800 ký tự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749808" y="4096512"/>
            <a:ext cx="5175503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02060"/>
                </a:solidFill>
                <a:latin typeface="Times New Roman"/>
              </a:rPr>
              <a:t/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14400" y="4169664"/>
            <a:ext cx="47548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00000"/>
                </a:solidFill>
                <a:latin typeface="Times New Roman"/>
              </a:rPr>
              <a:t>5.  </a:t>
            </a:r>
            <a:r>
              <a:rPr sz="1600" b="0">
                <a:solidFill>
                  <a:srgbClr val="002060"/>
                </a:solidFill>
                <a:latin typeface="Times New Roman"/>
              </a:rPr>
              <a:t>Lặp tối đa 3 lần (hằng số trong hàm)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49808" y="4736592"/>
            <a:ext cx="5175503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02060"/>
                </a:solidFill>
                <a:latin typeface="Times New Roman"/>
              </a:rPr>
              <a:t/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4400" y="4809744"/>
            <a:ext cx="47548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00000"/>
                </a:solidFill>
                <a:latin typeface="Times New Roman"/>
              </a:rPr>
              <a:t>6.  </a:t>
            </a:r>
            <a:r>
              <a:rPr sz="1600" b="0">
                <a:solidFill>
                  <a:srgbClr val="002060"/>
                </a:solidFill>
                <a:latin typeface="Times New Roman"/>
              </a:rPr>
              <a:t>Vá chuỗi câu trả lời sau khi sinh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263640" y="1536192"/>
            <a:ext cx="5175503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02060"/>
                </a:solidFill>
                <a:latin typeface="Times New Roman"/>
              </a:rPr>
              <a:t/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428232" y="1609344"/>
            <a:ext cx="47548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96B24"/>
                </a:solidFill>
                <a:latin typeface="Times New Roman"/>
              </a:rPr>
              <a:t>1.  </a:t>
            </a:r>
            <a:r>
              <a:rPr sz="1600" b="0">
                <a:solidFill>
                  <a:srgbClr val="002060"/>
                </a:solidFill>
                <a:latin typeface="Times New Roman"/>
              </a:rPr>
              <a:t>turn-start · step-start ghi vào session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263640" y="2176272"/>
            <a:ext cx="5175503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02060"/>
                </a:solidFill>
                <a:latin typeface="Times New Roman"/>
              </a:rPr>
              <a:t/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428232" y="2249424"/>
            <a:ext cx="47548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96B24"/>
                </a:solidFill>
                <a:latin typeface="Times New Roman"/>
              </a:rPr>
              <a:t>2.  </a:t>
            </a:r>
            <a:r>
              <a:rPr sz="1600" b="0">
                <a:solidFill>
                  <a:srgbClr val="002060"/>
                </a:solidFill>
                <a:latin typeface="Times New Roman"/>
              </a:rPr>
              <a:t>Dựng context: [static] luật + tool schema,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</a:rPr>
              <a:t>     rồi [volatile] report + observation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263640" y="2816352"/>
            <a:ext cx="5175503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02060"/>
                </a:solidFill>
                <a:latin typeface="Times New Roman"/>
              </a:rPr>
              <a:t/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428232" y="2889504"/>
            <a:ext cx="47548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96B24"/>
                </a:solidFill>
                <a:latin typeface="Times New Roman"/>
              </a:rPr>
              <a:t>3.  </a:t>
            </a:r>
            <a:r>
              <a:rPr sz="1600" b="0">
                <a:solidFill>
                  <a:srgbClr val="002060"/>
                </a:solidFill>
                <a:latin typeface="Times New Roman"/>
              </a:rPr>
              <a:t>Gọi LLM bằng native function calling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263640" y="3456432"/>
            <a:ext cx="5175503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02060"/>
                </a:solidFill>
                <a:latin typeface="Times New Roman"/>
              </a:rPr>
              <a:t/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428232" y="3529584"/>
            <a:ext cx="47548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96B24"/>
                </a:solidFill>
                <a:latin typeface="Times New Roman"/>
              </a:rPr>
              <a:t>4.  </a:t>
            </a:r>
            <a:r>
              <a:rPr sz="1600" b="0">
                <a:solidFill>
                  <a:srgbClr val="002060"/>
                </a:solidFill>
                <a:latin typeface="Times New Roman"/>
              </a:rPr>
              <a:t>Mỗi tool đi qua pipeline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</a:rPr>
              <a:t>     pre-execute → execute → post-execute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263640" y="4096512"/>
            <a:ext cx="5175503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02060"/>
                </a:solidFill>
                <a:latin typeface="Times New Roman"/>
              </a:rPr>
              <a:t/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428232" y="4169664"/>
            <a:ext cx="47548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96B24"/>
                </a:solidFill>
                <a:latin typeface="Times New Roman"/>
              </a:rPr>
              <a:t>5.  </a:t>
            </a:r>
            <a:r>
              <a:rPr sz="1600" b="0">
                <a:solidFill>
                  <a:srgbClr val="002060"/>
                </a:solidFill>
                <a:latin typeface="Times New Roman"/>
              </a:rPr>
              <a:t>Validator provenance kiểm mọi con số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263640" y="4736592"/>
            <a:ext cx="5175503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02060"/>
                </a:solidFill>
                <a:latin typeface="Times New Roman"/>
              </a:rPr>
              <a:t/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28232" y="4809744"/>
            <a:ext cx="47548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96B24"/>
                </a:solidFill>
                <a:latin typeface="Times New Roman"/>
              </a:rPr>
              <a:t>6.  </a:t>
            </a:r>
            <a:r>
              <a:rPr sz="1600" b="0">
                <a:solidFill>
                  <a:srgbClr val="002060"/>
                </a:solidFill>
                <a:latin typeface="Times New Roman"/>
              </a:rPr>
              <a:t>step-finish · turn-end ghi token, cost, lý do dừng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8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Trần vòng lặp thành cấu hình khai báo (steps trong profile), không còn là hằng số trong hàm.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910879" y="6492240"/>
            <a:ext cx="2170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ToxAgent Harness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0" y="2148840"/>
            <a:ext cx="12191969" cy="17373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22960" y="230428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9FC5E8"/>
                </a:solidFill>
                <a:latin typeface="Times New Roman"/>
              </a:rPr>
              <a:t>PHẦN 3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8640" y="2697480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Times New Roman"/>
              </a:rPr>
              <a:t>Bốn thay đổi cốt lõi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4069080"/>
            <a:ext cx="999439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95959"/>
                </a:solidFill>
                <a:latin typeface="Times New Roman"/>
              </a:rPr>
              <a:t>Trạng thái · Tool · Observation · Provenance số liệu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910879" y="6492240"/>
            <a:ext cx="2170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ToxAgent Harness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1">
                <a:solidFill>
                  <a:srgbClr val="002060"/>
                </a:solidFill>
                <a:latin typeface="Times New Roman"/>
              </a:rPr>
              <a:t>#1  Trạng thái và audit trail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548640" y="932688"/>
            <a:ext cx="5577840" cy="4160520"/>
          </a:xfrm>
          <a:prstGeom prst="roundRect">
            <a:avLst>
              <a:gd name="adj" fmla="val 4000"/>
            </a:avLst>
          </a:prstGeom>
          <a:solidFill>
            <a:srgbClr val="FD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6062472" y="932688"/>
            <a:ext cx="5577840" cy="4160520"/>
          </a:xfrm>
          <a:prstGeom prst="roundRect">
            <a:avLst>
              <a:gd name="adj" fmla="val 4000"/>
            </a:avLst>
          </a:prstGeom>
          <a:solidFill>
            <a:srgbClr val="F1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548640" y="932688"/>
            <a:ext cx="5577840" cy="475488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TRƯỚC — hôm nay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062472" y="932688"/>
            <a:ext cx="5577840" cy="475488"/>
          </a:xfrm>
          <a:prstGeom prst="roundRect">
            <a:avLst>
              <a:gd name="adj" fmla="val 20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SAU — kiến trúc harness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49808" y="1572768"/>
            <a:ext cx="5175503" cy="118872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32688" y="1719072"/>
            <a:ext cx="4809743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300">
                <a:solidFill>
                  <a:srgbClr val="8FC78F"/>
                </a:solidFill>
                <a:latin typeface="Consolas"/>
              </a:rPr>
              <a:t># agents/report_chat_agent.py:71</a:t>
            </a:r>
          </a:p>
          <a:p>
            <a:pPr>
              <a:lnSpc>
                <a:spcPct val="106000"/>
              </a:lnSpc>
            </a:pPr>
            <a:r>
              <a:rPr sz="1300">
                <a:solidFill>
                  <a:srgbClr val="F0F0F0"/>
                </a:solidFill>
                <a:latin typeface="Consolas"/>
              </a:rPr>
              <a:t>_SESSION_STORE: Dict[str, ReportChatSession] = {}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04672" y="2926080"/>
            <a:ext cx="506577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0">
                <a:solidFill>
                  <a:srgbClr val="002060"/>
                </a:solidFill>
                <a:latin typeface="Times New Roman"/>
              </a:rPr>
              <a:t>• Một dict module-level trong RAM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0">
                <a:solidFill>
                  <a:srgbClr val="002060"/>
                </a:solidFill>
                <a:latin typeface="Times New Roman"/>
              </a:rPr>
              <a:t>• Restart process = mất toàn bộ lịch sử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0">
                <a:solidFill>
                  <a:srgbClr val="002060"/>
                </a:solidFill>
                <a:latin typeface="Times New Roman"/>
              </a:rPr>
              <a:t>• Đổi instance Cloud Run = mất audit trail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0">
                <a:solidFill>
                  <a:srgbClr val="002060"/>
                </a:solidFill>
                <a:latin typeface="Times New Roman"/>
              </a:rPr>
              <a:t>• Không truy được "con số này từ tool nào"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263640" y="1572768"/>
            <a:ext cx="5175503" cy="6035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428232" y="16459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1">
                <a:solidFill>
                  <a:srgbClr val="156082"/>
                </a:solidFill>
                <a:latin typeface="Times New Roman"/>
              </a:rPr>
              <a:t>session   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595959"/>
                </a:solidFill>
                <a:latin typeface="Times New Roman"/>
              </a:rPr>
              <a:t>id · owner · status · token/cost tổng · profile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263640" y="2286000"/>
            <a:ext cx="5175503" cy="6035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428232" y="235915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1">
                <a:solidFill>
                  <a:srgbClr val="156082"/>
                </a:solidFill>
                <a:latin typeface="Times New Roman"/>
              </a:rPr>
              <a:t>message   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595959"/>
                </a:solidFill>
                <a:latin typeface="Times New Roman"/>
              </a:rPr>
              <a:t>role · content · time_created / time_updated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263640" y="2999232"/>
            <a:ext cx="5175503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428232" y="3072384"/>
            <a:ext cx="4846320" cy="603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1">
                <a:solidFill>
                  <a:srgbClr val="196B24"/>
                </a:solidFill>
                <a:latin typeface="Times New Roman"/>
              </a:rPr>
              <a:t>part   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595959"/>
                </a:solidFill>
                <a:latin typeface="Times New Roman"/>
              </a:rPr>
              <a:t>text · reasoning · tool · step-start/finish ·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595959"/>
                </a:solidFill>
                <a:latin typeface="Times New Roman"/>
              </a:rPr>
              <a:t>request-header · compaction · validation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263640" y="3858768"/>
            <a:ext cx="5175503" cy="6035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428232" y="39319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1">
                <a:solidFill>
                  <a:srgbClr val="E97132"/>
                </a:solidFill>
                <a:latin typeface="Times New Roman"/>
              </a:rPr>
              <a:t>attachment   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595959"/>
                </a:solidFill>
                <a:latin typeface="Times New Roman"/>
              </a:rPr>
              <a:t>PNG / heatmap / blob lớn, ngoài context LLM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263640" y="4572000"/>
            <a:ext cx="5175503" cy="6035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428232" y="464515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1">
                <a:solidFill>
                  <a:srgbClr val="A02B93"/>
                </a:solidFill>
                <a:latin typeface="Times New Roman"/>
              </a:rPr>
              <a:t>session_context_epoch   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595959"/>
                </a:solidFill>
                <a:latin typeface="Times New Roman"/>
              </a:rPr>
              <a:t>baseline · tail_start_id — nén bằng con trỏ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48640" y="5504688"/>
            <a:ext cx="11091672" cy="914400"/>
          </a:xfrm>
          <a:prstGeom prst="roundRect">
            <a:avLst>
              <a:gd name="adj" fmla="val 18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Một log, hai cách đọc: surface gửi cho model có thể bị nén — transcript để audit thì không bao giờ.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910879" y="6492240"/>
            <a:ext cx="2170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ToxAgent Harness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1">
                <a:solidFill>
                  <a:srgbClr val="002060"/>
                </a:solidFill>
                <a:latin typeface="Times New Roman"/>
              </a:rPr>
              <a:t>#2  Tool: từ chuỗi if/elif sang registry có contract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548640" y="932688"/>
            <a:ext cx="5577840" cy="4206240"/>
          </a:xfrm>
          <a:prstGeom prst="roundRect">
            <a:avLst>
              <a:gd name="adj" fmla="val 4000"/>
            </a:avLst>
          </a:prstGeom>
          <a:solidFill>
            <a:srgbClr val="FD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6062472" y="932688"/>
            <a:ext cx="5577840" cy="4206240"/>
          </a:xfrm>
          <a:prstGeom prst="roundRect">
            <a:avLst>
              <a:gd name="adj" fmla="val 4000"/>
            </a:avLst>
          </a:prstGeom>
          <a:solidFill>
            <a:srgbClr val="F1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548640" y="932688"/>
            <a:ext cx="5577840" cy="475488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TRƯỚC — hôm nay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062472" y="932688"/>
            <a:ext cx="5577840" cy="475488"/>
          </a:xfrm>
          <a:prstGeom prst="roundRect">
            <a:avLst>
              <a:gd name="adj" fmla="val 20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SAU — kiến trúc harness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49808" y="1572768"/>
            <a:ext cx="5175503" cy="210312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32688" y="1719072"/>
            <a:ext cx="4809743" cy="1810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300">
                <a:solidFill>
                  <a:srgbClr val="8FC78F"/>
                </a:solidFill>
                <a:latin typeface="Consolas"/>
              </a:rPr>
              <a:t># model_server/main.py:1131</a:t>
            </a:r>
          </a:p>
          <a:p>
            <a:pPr>
              <a:lnSpc>
                <a:spcPct val="106000"/>
              </a:lnSpc>
            </a:pPr>
            <a:r>
              <a:rPr sz="1300">
                <a:solidFill>
                  <a:srgbClr val="F0F0F0"/>
                </a:solidFill>
                <a:latin typeface="Consolas"/>
              </a:rPr>
              <a:t>def _execute_report_chat_tool(name, args):</a:t>
            </a:r>
          </a:p>
          <a:p>
            <a:pPr>
              <a:lnSpc>
                <a:spcPct val="106000"/>
              </a:lnSpc>
            </a:pPr>
            <a:r>
              <a:rPr sz="1300">
                <a:solidFill>
                  <a:srgbClr val="F0F0F0"/>
                </a:solidFill>
                <a:latin typeface="Consolas"/>
              </a:rPr>
              <a:t>    if name == "search_literature":</a:t>
            </a:r>
          </a:p>
          <a:p>
            <a:pPr>
              <a:lnSpc>
                <a:spcPct val="106000"/>
              </a:lnSpc>
            </a:pPr>
            <a:r>
              <a:rPr sz="1300">
                <a:solidFill>
                  <a:srgbClr val="F0F0F0"/>
                </a:solidFill>
                <a:latin typeface="Consolas"/>
              </a:rPr>
              <a:t>        ...</a:t>
            </a:r>
          </a:p>
          <a:p>
            <a:pPr>
              <a:lnSpc>
                <a:spcPct val="106000"/>
              </a:lnSpc>
            </a:pPr>
            <a:r>
              <a:rPr sz="1300">
                <a:solidFill>
                  <a:srgbClr val="F0F0F0"/>
                </a:solidFill>
                <a:latin typeface="Consolas"/>
              </a:rPr>
              <a:t>    elif name == "find_analogs":</a:t>
            </a:r>
          </a:p>
          <a:p>
            <a:pPr>
              <a:lnSpc>
                <a:spcPct val="106000"/>
              </a:lnSpc>
            </a:pPr>
            <a:r>
              <a:rPr sz="1300">
                <a:solidFill>
                  <a:srgbClr val="F0F0F0"/>
                </a:solidFill>
                <a:latin typeface="Consolas"/>
              </a:rPr>
              <a:t>        ...</a:t>
            </a:r>
          </a:p>
          <a:p>
            <a:pPr>
              <a:lnSpc>
                <a:spcPct val="106000"/>
              </a:lnSpc>
            </a:pPr>
            <a:r>
              <a:rPr sz="1300">
                <a:solidFill>
                  <a:srgbClr val="F0F0F0"/>
                </a:solidFill>
                <a:latin typeface="Consolas"/>
              </a:rPr>
              <a:t>    elif name == "explain_prediction":</a:t>
            </a:r>
          </a:p>
          <a:p>
            <a:pPr>
              <a:lnSpc>
                <a:spcPct val="106000"/>
              </a:lnSpc>
            </a:pPr>
            <a:r>
              <a:rPr sz="1300">
                <a:solidFill>
                  <a:srgbClr val="F0F0F0"/>
                </a:solidFill>
                <a:latin typeface="Consolas"/>
              </a:rPr>
              <a:t>        ...</a:t>
            </a:r>
          </a:p>
          <a:p>
            <a:pPr>
              <a:lnSpc>
                <a:spcPct val="106000"/>
              </a:lnSpc>
            </a:pPr>
            <a:r>
              <a:rPr sz="1300">
                <a:solidFill>
                  <a:srgbClr val="8FC78F"/>
                </a:solidFill>
                <a:latin typeface="Consolas"/>
              </a:rPr>
              <a:t>    # thêm tool = sửa thân hàm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04672" y="3840480"/>
            <a:ext cx="5065775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700" b="0">
                <a:solidFill>
                  <a:srgbClr val="002060"/>
                </a:solidFill>
                <a:latin typeface="Times New Roman"/>
              </a:rPr>
              <a:t>• Không có JSON Schema cho tham số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700" b="0">
                <a:solidFill>
                  <a:srgbClr val="002060"/>
                </a:solidFill>
                <a:latin typeface="Times New Roman"/>
              </a:rPr>
              <a:t>• Không có timeout / retry riêng từng tool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700" b="0">
                <a:solidFill>
                  <a:srgbClr val="002060"/>
                </a:solidFill>
                <a:latin typeface="Times New Roman"/>
              </a:rPr>
              <a:t>• Không có deadline chung cho cả lượt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263640" y="1572768"/>
            <a:ext cx="5175503" cy="210312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446520" y="1719072"/>
            <a:ext cx="4809743" cy="1810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250">
                <a:solidFill>
                  <a:srgbClr val="F0F0F0"/>
                </a:solidFill>
                <a:latin typeface="Consolas"/>
              </a:rPr>
              <a:t>@dataclass(frozen=True)</a:t>
            </a:r>
          </a:p>
          <a:p>
            <a:pPr>
              <a:lnSpc>
                <a:spcPct val="106000"/>
              </a:lnSpc>
            </a:pPr>
            <a:r>
              <a:rPr sz="1250">
                <a:solidFill>
                  <a:srgbClr val="F0F0F0"/>
                </a:solidFill>
                <a:latin typeface="Consolas"/>
              </a:rPr>
              <a:t>class ToolDefinition:</a:t>
            </a:r>
          </a:p>
          <a:p>
            <a:pPr>
              <a:lnSpc>
                <a:spcPct val="106000"/>
              </a:lnSpc>
            </a:pPr>
            <a:r>
              <a:rPr sz="1250">
                <a:solidFill>
                  <a:srgbClr val="F0F0F0"/>
                </a:solidFill>
                <a:latin typeface="Consolas"/>
              </a:rPr>
              <a:t>    name: str</a:t>
            </a:r>
          </a:p>
          <a:p>
            <a:pPr>
              <a:lnSpc>
                <a:spcPct val="106000"/>
              </a:lnSpc>
            </a:pPr>
            <a:r>
              <a:rPr sz="1250">
                <a:solidFill>
                  <a:srgbClr val="F0F0F0"/>
                </a:solidFill>
                <a:latin typeface="Consolas"/>
              </a:rPr>
              <a:t>    description: str</a:t>
            </a:r>
          </a:p>
          <a:p>
            <a:pPr>
              <a:lnSpc>
                <a:spcPct val="106000"/>
              </a:lnSpc>
            </a:pPr>
            <a:r>
              <a:rPr sz="1250">
                <a:solidFill>
                  <a:srgbClr val="F0F0F0"/>
                </a:solidFill>
                <a:latin typeface="Consolas"/>
              </a:rPr>
              <a:t>    parameters: dict        # JSON Schema</a:t>
            </a:r>
          </a:p>
          <a:p>
            <a:pPr>
              <a:lnSpc>
                <a:spcPct val="106000"/>
              </a:lnSpc>
            </a:pPr>
            <a:r>
              <a:rPr sz="1250">
                <a:solidFill>
                  <a:srgbClr val="F0F0F0"/>
                </a:solidFill>
                <a:latin typeface="Consolas"/>
              </a:rPr>
              <a:t>    execute: Callable[[dict, ToolExec], ToolResult]</a:t>
            </a:r>
          </a:p>
          <a:p>
            <a:pPr>
              <a:lnSpc>
                <a:spcPct val="106000"/>
              </a:lnSpc>
            </a:pPr>
            <a:r>
              <a:rPr sz="1250">
                <a:solidFill>
                  <a:srgbClr val="F0F0F0"/>
                </a:solidFill>
                <a:latin typeface="Consolas"/>
              </a:rPr>
              <a:t>    timeout_s: float</a:t>
            </a:r>
          </a:p>
          <a:p>
            <a:pPr>
              <a:lnSpc>
                <a:spcPct val="106000"/>
              </a:lnSpc>
            </a:pPr>
            <a:r>
              <a:rPr sz="1250">
                <a:solidFill>
                  <a:srgbClr val="F0F0F0"/>
                </a:solidFill>
                <a:latin typeface="Consolas"/>
              </a:rPr>
              <a:t>    retries: int = 0</a:t>
            </a:r>
          </a:p>
          <a:p>
            <a:pPr>
              <a:lnSpc>
                <a:spcPct val="106000"/>
              </a:lnSpc>
            </a:pPr>
            <a:r>
              <a:rPr sz="1250">
                <a:solidFill>
                  <a:srgbClr val="F0F0F0"/>
                </a:solidFill>
                <a:latin typeface="Consolas"/>
              </a:rPr>
              <a:t>    observation: ObservationPolicy = ...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281928" y="3877056"/>
            <a:ext cx="932688" cy="475488"/>
          </a:xfrm>
          <a:prstGeom prst="roundRect">
            <a:avLst>
              <a:gd name="adj" fmla="val 14000"/>
            </a:avLst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250" b="1">
                <a:solidFill>
                  <a:srgbClr val="002060"/>
                </a:solidFill>
                <a:latin typeface="Times New Roman"/>
              </a:rPr>
              <a:t>pending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296912" y="3877056"/>
            <a:ext cx="1188720" cy="475488"/>
          </a:xfrm>
          <a:prstGeom prst="roundRect">
            <a:avLst>
              <a:gd name="adj" fmla="val 14000"/>
            </a:avLst>
          </a:prstGeom>
          <a:solidFill>
            <a:srgbClr val="E7F1F7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250" b="1">
                <a:solidFill>
                  <a:srgbClr val="002060"/>
                </a:solidFill>
                <a:latin typeface="Times New Roman"/>
              </a:rPr>
              <a:t>pre-execute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567928" y="3877056"/>
            <a:ext cx="932688" cy="475488"/>
          </a:xfrm>
          <a:prstGeom prst="roundRect">
            <a:avLst>
              <a:gd name="adj" fmla="val 14000"/>
            </a:avLst>
          </a:prstGeom>
          <a:solidFill>
            <a:srgbClr val="E7F1F7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250" b="1">
                <a:solidFill>
                  <a:srgbClr val="002060"/>
                </a:solidFill>
                <a:latin typeface="Times New Roman"/>
              </a:rPr>
              <a:t>execute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9582912" y="3877056"/>
            <a:ext cx="1188720" cy="475488"/>
          </a:xfrm>
          <a:prstGeom prst="roundRect">
            <a:avLst>
              <a:gd name="adj" fmla="val 14000"/>
            </a:avLst>
          </a:prstGeom>
          <a:solidFill>
            <a:srgbClr val="E7F1F7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250" b="1">
                <a:solidFill>
                  <a:srgbClr val="002060"/>
                </a:solidFill>
                <a:latin typeface="Times New Roman"/>
              </a:rPr>
              <a:t>post-execute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0853928" y="3877056"/>
            <a:ext cx="1188720" cy="475488"/>
          </a:xfrm>
          <a:prstGeom prst="roundRect">
            <a:avLst>
              <a:gd name="adj" fmla="val 14000"/>
            </a:avLst>
          </a:prstGeom>
          <a:solidFill>
            <a:srgbClr val="E7F1F7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250" b="1">
                <a:solidFill>
                  <a:srgbClr val="002060"/>
                </a:solidFill>
                <a:latin typeface="Times New Roman"/>
              </a:rPr>
              <a:t>completed | error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318504" y="4498848"/>
            <a:ext cx="506577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Args parse một lần rồi đóng băng · post-execute không bao giờ sửa câu trả lời cuối của model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48640" y="5559552"/>
            <a:ext cx="11091672" cy="640080"/>
          </a:xfrm>
          <a:prstGeom prst="roundRect">
            <a:avLst>
              <a:gd name="adj" fmla="val 18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Tool catalog là bề mặt quyền lực: chỉ tool có mặt trong registry của session mới gọi được.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910879" y="6492240"/>
            <a:ext cx="2170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ToxAgent Harness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1">
                <a:solidFill>
                  <a:srgbClr val="002060"/>
                </a:solidFill>
                <a:latin typeface="Times New Roman"/>
              </a:rPr>
              <a:t>#3  Observation: model chỉ thấy phần đã được chiếu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548640" y="932688"/>
            <a:ext cx="11091672" cy="512064"/>
          </a:xfrm>
          <a:prstGeom prst="roundRect">
            <a:avLst>
              <a:gd name="adj" fmla="val 1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output = đúng phần model nhìn thấy    ·    metadata + attachments = bằng chứng đầy đủ, ngoài context</a:t>
            </a:r>
          </a:p>
        </p:txBody>
      </p:sp>
      <p:graphicFrame>
        <p:nvGraphicFramePr>
          <p:cNvPr id="113" name="Table 112"/>
          <p:cNvGraphicFramePr>
            <a:graphicFrameLocks noGrp="1"/>
          </p:cNvGraphicFramePr>
          <p:nvPr/>
        </p:nvGraphicFramePr>
        <p:xfrm>
          <a:off x="548640" y="1627632"/>
          <a:ext cx="11091671" cy="2834640"/>
        </p:xfrm>
        <a:graphic>
          <a:graphicData uri="http://schemas.openxmlformats.org/drawingml/2006/table">
            <a:tbl>
              <a:tblPr firstRow="1" bandRow="0"/>
              <a:tblGrid>
                <a:gridCol w="2683469"/>
                <a:gridCol w="4472448"/>
                <a:gridCol w="3935754"/>
              </a:tblGrid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Tool</a:t>
                      </a:r>
                    </a:p>
                  </a:txBody>
                  <a:tcPr marL="73152" marR="73152" marT="36576" marB="36576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output đưa vào context</a:t>
                      </a:r>
                    </a:p>
                  </a:txBody>
                  <a:tcPr marL="73152" marR="73152" marT="36576" marB="36576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metadata / attachment giữ riêng</a:t>
                      </a:r>
                    </a:p>
                  </a:txBody>
                  <a:tcPr marL="73152" marR="73152" marT="36576" marB="36576" anchor="ctr">
                    <a:solidFill>
                      <a:srgbClr val="0E28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600" b="1">
                          <a:solidFill>
                            <a:srgbClr val="1A1A1A"/>
                          </a:solidFill>
                          <a:latin typeface="Times New Roman"/>
                        </a:rPr>
                        <a:t>predict_toxicity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Times New Roman"/>
                        </a:rPr>
                        <a:t>verdict, probability, top-3 mechanism + score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Times New Roman"/>
                        </a:rPr>
                        <a:t>full task map, model metadata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600" b="1">
                          <a:solidFill>
                            <a:srgbClr val="1A1A1A"/>
                          </a:solidFill>
                          <a:latin typeface="Times New Roman"/>
                        </a:rPr>
                        <a:t>explain_prediction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Times New Roman"/>
                        </a:rPr>
                        <a:t>top-8 atom / bond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Times New Roman"/>
                        </a:rPr>
                        <a:t>heatmap &amp; molecule PNG, raw attribution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600" b="1">
                          <a:solidFill>
                            <a:srgbClr val="1A1A1A"/>
                          </a:solidFill>
                          <a:latin typeface="Times New Roman"/>
                        </a:rPr>
                        <a:t>search_literature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Times New Roman"/>
                        </a:rPr>
                        <a:t>PMID, title, năm, 240 ký tự abstract mỗi bài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Times New Roman"/>
                        </a:rPr>
                        <a:t>full abstract, raw response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600" b="1">
                          <a:solidFill>
                            <a:srgbClr val="1A1A1A"/>
                          </a:solidFill>
                          <a:latin typeface="Times New Roman"/>
                        </a:rPr>
                        <a:t>find_analogs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Times New Roman"/>
                        </a:rPr>
                        <a:t>top-5 SMILES, Tanimoto, nhãn độc tính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Times New Roman"/>
                        </a:rPr>
                        <a:t>toàn bộ kết quả, fingerprint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4" name="Rounded Rectangle 113"/>
          <p:cNvSpPr/>
          <p:nvPr/>
        </p:nvSpPr>
        <p:spPr>
          <a:xfrm>
            <a:off x="548640" y="4590288"/>
            <a:ext cx="11091672" cy="566928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77240" y="4709159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imes New Roman"/>
              </a:rPr>
              <a:t>TRƯỚC   </a:t>
            </a:r>
            <a:r>
              <a:rPr sz="1700" b="0">
                <a:solidFill>
                  <a:srgbClr val="002060"/>
                </a:solidFill>
                <a:latin typeface="Times New Roman"/>
              </a:rPr>
              <a:t>_compact_tool_result(max_chars=1800) — cắt cứng theo ký tự cho mọi tool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48640" y="5248655"/>
            <a:ext cx="11091672" cy="566928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524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77240" y="5367527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96B24"/>
                </a:solidFill>
                <a:latin typeface="Times New Roman"/>
              </a:rPr>
              <a:t>SAU   </a:t>
            </a:r>
            <a:r>
              <a:rPr sz="1700" b="0">
                <a:solidFill>
                  <a:srgbClr val="002060"/>
                </a:solidFill>
                <a:latin typeface="Times New Roman"/>
              </a:rPr>
              <a:t>Observation policy khai báo riêng cho từng tool; base64 không bao giờ vào prompt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48640" y="5779007"/>
            <a:ext cx="11091672" cy="640080"/>
          </a:xfrm>
          <a:prstGeom prst="roundRect">
            <a:avLst>
              <a:gd name="adj" fmla="val 18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Raw observation và attachment là BẰNG CHỨNG, không phải cache — sống cùng vòng đời session.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910879" y="6492240"/>
            <a:ext cx="2170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ToxAgent Harness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1">
                <a:solidFill>
                  <a:srgbClr val="002060"/>
                </a:solidFill>
                <a:latin typeface="Times New Roman"/>
              </a:rPr>
              <a:t>#4  Provenance số liệu — con số phải có nguồn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548640" y="932688"/>
            <a:ext cx="11091672" cy="512064"/>
          </a:xfrm>
          <a:prstGeom prst="roundRect">
            <a:avLst>
              <a:gd name="adj" fmla="val 1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Bất biến: mọi con số ở câu trả lời cuối phải truy được tới một observation của chính lượt đó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548640" y="1645920"/>
            <a:ext cx="2048256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58368" y="178308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56082"/>
                </a:solidFill>
                <a:latin typeface="Times New Roman"/>
              </a:rPr>
              <a:t>Post-execute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58368" y="2267712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450" b="0">
                <a:solidFill>
                  <a:srgbClr val="595959"/>
                </a:solidFill>
                <a:latin typeface="Times New Roman"/>
              </a:rPr>
              <a:t>tạo numeric_index có kiểu,</a:t>
            </a:r>
          </a:p>
          <a:p>
            <a:pPr algn="ctr">
              <a:lnSpc>
                <a:spcPct val="106000"/>
              </a:lnSpc>
            </a:pPr>
            <a:r>
              <a:rPr sz="1450" b="0">
                <a:solidFill>
                  <a:srgbClr val="595959"/>
                </a:solidFill>
                <a:latin typeface="Times New Roman"/>
              </a:rPr>
              <a:t>gắn callID của observation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2633472" y="2487168"/>
            <a:ext cx="146304" cy="0"/>
          </a:xfrm>
          <a:prstGeom prst="line">
            <a:avLst/>
          </a:prstGeom>
          <a:ln w="31750">
            <a:solidFill>
              <a:srgbClr val="1560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2816352" y="1645920"/>
            <a:ext cx="2048256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926080" y="178308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56082"/>
                </a:solidFill>
                <a:latin typeface="Times New Roman"/>
              </a:rPr>
              <a:t>Validator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926080" y="2267712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450" b="0">
                <a:solidFill>
                  <a:srgbClr val="595959"/>
                </a:solidFill>
                <a:latin typeface="Times New Roman"/>
              </a:rPr>
              <a:t>chuẩn hoá dấu , / . thập phân,</a:t>
            </a:r>
          </a:p>
          <a:p>
            <a:pPr algn="ctr">
              <a:lnSpc>
                <a:spcPct val="106000"/>
              </a:lnSpc>
            </a:pPr>
            <a:r>
              <a:rPr sz="1450" b="0">
                <a:solidFill>
                  <a:srgbClr val="595959"/>
                </a:solidFill>
                <a:latin typeface="Times New Roman"/>
              </a:rPr>
              <a:t>trích token số từ câu trả lời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4901183" y="2487168"/>
            <a:ext cx="146305" cy="0"/>
          </a:xfrm>
          <a:prstGeom prst="line">
            <a:avLst/>
          </a:prstGeom>
          <a:ln w="31750">
            <a:solidFill>
              <a:srgbClr val="1560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5084064" y="1645920"/>
            <a:ext cx="2048256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193792" y="178308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96B24"/>
                </a:solidFill>
                <a:latin typeface="Times New Roman"/>
              </a:rPr>
              <a:t>So khớp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193792" y="2267712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450" b="0">
                <a:solidFill>
                  <a:srgbClr val="595959"/>
                </a:solidFill>
                <a:latin typeface="Times New Roman"/>
              </a:rPr>
              <a:t>|x − y| ≤ 0,5 × 10⁻ᵈ</a:t>
            </a:r>
          </a:p>
          <a:p>
            <a:pPr algn="ctr">
              <a:lnSpc>
                <a:spcPct val="106000"/>
              </a:lnSpc>
            </a:pPr>
            <a:r>
              <a:rPr sz="1450" b="0">
                <a:solidFill>
                  <a:srgbClr val="595959"/>
                </a:solidFill>
                <a:latin typeface="Times New Roman"/>
              </a:rPr>
              <a:t>hoặc phép biến đổi đã khai báo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7168896" y="2487168"/>
            <a:ext cx="146304" cy="0"/>
          </a:xfrm>
          <a:prstGeom prst="line">
            <a:avLst/>
          </a:prstGeom>
          <a:ln w="31750">
            <a:solidFill>
              <a:srgbClr val="196B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7351776" y="1645920"/>
            <a:ext cx="2048256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461504" y="178308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97132"/>
                </a:solidFill>
                <a:latin typeface="Times New Roman"/>
              </a:rPr>
              <a:t>Vi phạm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461504" y="2267712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450" b="0">
                <a:solidFill>
                  <a:srgbClr val="595959"/>
                </a:solidFill>
                <a:latin typeface="Times New Roman"/>
              </a:rPr>
              <a:t>ghi validation part,</a:t>
            </a:r>
          </a:p>
          <a:p>
            <a:pPr algn="ctr">
              <a:lnSpc>
                <a:spcPct val="106000"/>
              </a:lnSpc>
            </a:pPr>
            <a:r>
              <a:rPr sz="1450" b="0">
                <a:solidFill>
                  <a:srgbClr val="595959"/>
                </a:solidFill>
                <a:latin typeface="Times New Roman"/>
              </a:rPr>
              <a:t>retry ĐÚNG một lần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9436608" y="2487168"/>
            <a:ext cx="146304" cy="0"/>
          </a:xfrm>
          <a:prstGeom prst="line">
            <a:avLst/>
          </a:prstGeom>
          <a:ln w="31750">
            <a:solidFill>
              <a:srgbClr val="E971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ounded Rectangle 128"/>
          <p:cNvSpPr/>
          <p:nvPr/>
        </p:nvSpPr>
        <p:spPr>
          <a:xfrm>
            <a:off x="9619488" y="1645920"/>
            <a:ext cx="2048256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729216" y="178308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00000"/>
                </a:solidFill>
                <a:latin typeface="Times New Roman"/>
              </a:rPr>
              <a:t>Vẫn sai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729216" y="2267712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450" b="0">
                <a:solidFill>
                  <a:srgbClr val="595959"/>
                </a:solidFill>
                <a:latin typeface="Times New Roman"/>
              </a:rPr>
              <a:t>fallback xác định —</a:t>
            </a:r>
          </a:p>
          <a:p>
            <a:pPr algn="ctr">
              <a:lnSpc>
                <a:spcPct val="106000"/>
              </a:lnSpc>
            </a:pPr>
            <a:r>
              <a:rPr sz="1450" b="0">
                <a:solidFill>
                  <a:srgbClr val="595959"/>
                </a:solidFill>
                <a:latin typeface="Times New Roman"/>
              </a:rPr>
              <a:t>không vá chuỗi để che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48640" y="3566160"/>
            <a:ext cx="3611880" cy="9144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778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31520" y="3675887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595959"/>
                </a:solidFill>
                <a:latin typeface="Times New Roman"/>
              </a:rPr>
              <a:t>off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31520" y="4059936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chỉ khi khẩn cấp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4343400" y="3566160"/>
            <a:ext cx="3611880" cy="9144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526280" y="3675887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E97132"/>
                </a:solidFill>
                <a:latin typeface="Times New Roman"/>
              </a:rPr>
              <a:t>shadow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526280" y="4059936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mặc định giai đoạn đầu — ghi verdict, chưa chặn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8138160" y="3566160"/>
            <a:ext cx="3611880" cy="9144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778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321040" y="3675887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196B24"/>
                </a:solidFill>
                <a:latin typeface="Times New Roman"/>
              </a:rPr>
              <a:t>strict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321040" y="4059936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chỉ bật sau khi đã phân tích dữ liệu shadow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548640" y="4663440"/>
            <a:ext cx="11091672" cy="10058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651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04672" y="4791456"/>
            <a:ext cx="1057960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C00000"/>
                </a:solidFill>
                <a:latin typeface="Times New Roman"/>
              </a:rPr>
              <a:t>Thay cho hôm nay:  </a:t>
            </a:r>
            <a:r>
              <a:rPr sz="1800" b="0">
                <a:solidFill>
                  <a:srgbClr val="002060"/>
                </a:solidFill>
                <a:latin typeface="Times New Roman"/>
              </a:rPr>
              <a:t>_normalize_report_chat_out_of_scope_reply() và _normalize_report_chat_citation_confidence() sửa chuỗi SAU khi model đã sinh — che lỗi thay vì phát hiện lỗi.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48640" y="5779007"/>
            <a:ext cx="11091672" cy="640080"/>
          </a:xfrm>
          <a:prstGeom prst="roundRect">
            <a:avLst>
              <a:gd name="adj" fmla="val 18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Không bật strict trước khi có số liệu shadow thật về tỉ lệ vi phạm.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910879" y="6492240"/>
            <a:ext cx="2170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ToxAgent Harness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1">
                <a:solidFill>
                  <a:srgbClr val="002060"/>
                </a:solidFill>
                <a:latin typeface="Times New Roman"/>
              </a:rPr>
              <a:t>Ngân sách token và nén context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548640" y="932688"/>
            <a:ext cx="5577840" cy="4343400"/>
          </a:xfrm>
          <a:prstGeom prst="roundRect">
            <a:avLst>
              <a:gd name="adj" fmla="val 4000"/>
            </a:avLst>
          </a:prstGeom>
          <a:solidFill>
            <a:srgbClr val="FD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6062472" y="932688"/>
            <a:ext cx="5577840" cy="4343400"/>
          </a:xfrm>
          <a:prstGeom prst="roundRect">
            <a:avLst>
              <a:gd name="adj" fmla="val 4000"/>
            </a:avLst>
          </a:prstGeom>
          <a:solidFill>
            <a:srgbClr val="F1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548640" y="932688"/>
            <a:ext cx="5577840" cy="475488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TRƯỚC — hôm nay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062472" y="932688"/>
            <a:ext cx="5577840" cy="475488"/>
          </a:xfrm>
          <a:prstGeom prst="roundRect">
            <a:avLst>
              <a:gd name="adj" fmla="val 20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SAU — kiến trúc harness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04672" y="1627632"/>
            <a:ext cx="5065775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0">
                <a:solidFill>
                  <a:srgbClr val="002060"/>
                </a:solidFill>
                <a:latin typeface="Times New Roman"/>
              </a:rPr>
              <a:t>• estimate_context_tokens(text) = len(text) // 4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0">
                <a:solidFill>
                  <a:srgbClr val="002060"/>
                </a:solidFill>
                <a:latin typeface="Times New Roman"/>
              </a:rPr>
              <a:t>• _trim_history_to_budget cắt bỏ cặp lượt cũ nhất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0">
                <a:solidFill>
                  <a:srgbClr val="002060"/>
                </a:solidFill>
                <a:latin typeface="Times New Roman"/>
              </a:rPr>
              <a:t>• Lịch sử bị cắt là mất hẳn — không phục hồi được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0">
                <a:solidFill>
                  <a:srgbClr val="002060"/>
                </a:solidFill>
                <a:latin typeface="Times New Roman"/>
              </a:rPr>
              <a:t>• Không đo token thật, không đo cache, không đo chi phí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0">
                <a:solidFill>
                  <a:srgbClr val="002060"/>
                </a:solidFill>
                <a:latin typeface="Times New Roman"/>
              </a:rPr>
              <a:t>• Không biết một session tốn bao nhiêu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18504" y="1627632"/>
            <a:ext cx="5065775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0">
                <a:solidFill>
                  <a:srgbClr val="002060"/>
                </a:solidFill>
                <a:latin typeface="Times New Roman"/>
              </a:rPr>
              <a:t>• Đếm bằng count_tokens / usage của provider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0">
                <a:solidFill>
                  <a:srgbClr val="002060"/>
                </a:solidFill>
                <a:latin typeface="Times New Roman"/>
              </a:rPr>
              <a:t>• Bước 1: chiếu theo field, gỡ observation cũ khỏi surface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0">
                <a:solidFill>
                  <a:srgbClr val="002060"/>
                </a:solidFill>
                <a:latin typeface="Times New Roman"/>
              </a:rPr>
              <a:t>• Bước 2: ghi baseline + con trỏ tail_start_id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0">
                <a:solidFill>
                  <a:srgbClr val="002060"/>
                </a:solidFill>
                <a:latin typeface="Times New Roman"/>
              </a:rPr>
              <a:t>• Transcript gốc KHÔNG bị sửa — chỉ surface đổi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0">
                <a:solidFill>
                  <a:srgbClr val="002060"/>
                </a:solidFill>
                <a:latin typeface="Times New Roman"/>
              </a:rPr>
              <a:t>• Ghi input / output / reasoning / cache / cost mỗi step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8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Chính sách nén không được tự đoán token hay chi phí — nó nhận số đo từ token meter.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910879" y="6492240"/>
            <a:ext cx="2170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ToxAgent Harness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1">
                <a:solidFill>
                  <a:srgbClr val="002060"/>
                </a:solidFill>
                <a:latin typeface="Times New Roman"/>
              </a:rPr>
              <a:t>Tổng kết:  TRƯỚC  →  SAU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2" name="Table 111"/>
          <p:cNvGraphicFramePr>
            <a:graphicFrameLocks noGrp="1"/>
          </p:cNvGraphicFramePr>
          <p:nvPr/>
        </p:nvGraphicFramePr>
        <p:xfrm>
          <a:off x="502920" y="932688"/>
          <a:ext cx="11183111" cy="4754880"/>
        </p:xfrm>
        <a:graphic>
          <a:graphicData uri="http://schemas.openxmlformats.org/drawingml/2006/table">
            <a:tbl>
              <a:tblPr firstRow="1" bandRow="0"/>
              <a:tblGrid>
                <a:gridCol w="2880498"/>
                <a:gridCol w="3727704"/>
                <a:gridCol w="4574909"/>
              </a:tblGrid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Khía cạnh</a:t>
                      </a:r>
                    </a:p>
                  </a:txBody>
                  <a:tcPr marL="73152" marR="73152" marT="36576" marB="36576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TRƯỚC — hôm nay</a:t>
                      </a:r>
                    </a:p>
                  </a:txBody>
                  <a:tcPr marL="73152" marR="73152" marT="36576" marB="36576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SAU — harness</a:t>
                      </a:r>
                    </a:p>
                  </a:txBody>
                  <a:tcPr marL="73152" marR="73152" marT="36576" marB="36576" anchor="ctr">
                    <a:solidFill>
                      <a:srgbClr val="0E284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550" b="1">
                          <a:solidFill>
                            <a:srgbClr val="1A1A1A"/>
                          </a:solidFill>
                          <a:latin typeface="Times New Roman"/>
                        </a:rPr>
                        <a:t>Vòng lặp agent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50" b="0">
                          <a:solidFill>
                            <a:srgbClr val="C00000"/>
                          </a:solidFill>
                          <a:latin typeface="Times New Roman"/>
                        </a:rPr>
                        <a:t>for … max_tool_calls = 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50" b="0">
                          <a:solidFill>
                            <a:srgbClr val="196B24"/>
                          </a:solidFill>
                          <a:latin typeface="Times New Roman"/>
                        </a:rPr>
                        <a:t>harness/loop, steps khai báo trong profile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550" b="1">
                          <a:solidFill>
                            <a:srgbClr val="1A1A1A"/>
                          </a:solidFill>
                          <a:latin typeface="Times New Roman"/>
                        </a:rPr>
                        <a:t>Chọn tool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50" b="0">
                          <a:solidFill>
                            <a:srgbClr val="C00000"/>
                          </a:solidFill>
                          <a:latin typeface="Times New Roman"/>
                        </a:rPr>
                        <a:t>Planner bằng prompt + heuristic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50" b="0">
                          <a:solidFill>
                            <a:srgbClr val="196B24"/>
                          </a:solidFill>
                          <a:latin typeface="Times New Roman"/>
                        </a:rPr>
                        <a:t>Native function calling trên tool registry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550" b="1">
                          <a:solidFill>
                            <a:srgbClr val="1A1A1A"/>
                          </a:solidFill>
                          <a:latin typeface="Times New Roman"/>
                        </a:rPr>
                        <a:t>Thực thi tool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50" b="0">
                          <a:solidFill>
                            <a:srgbClr val="C00000"/>
                          </a:solidFill>
                          <a:latin typeface="Times New Roman"/>
                        </a:rPr>
                        <a:t>Chuỗi if / elif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50" b="0">
                          <a:solidFill>
                            <a:srgbClr val="196B24"/>
                          </a:solidFill>
                          <a:latin typeface="Times New Roman"/>
                        </a:rPr>
                        <a:t>Pipeline pre → execute → post, có timeout &amp; retry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550" b="1">
                          <a:solidFill>
                            <a:srgbClr val="1A1A1A"/>
                          </a:solidFill>
                          <a:latin typeface="Times New Roman"/>
                        </a:rPr>
                        <a:t>Lịch sử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50" b="0">
                          <a:solidFill>
                            <a:srgbClr val="C00000"/>
                          </a:solidFill>
                          <a:latin typeface="Times New Roman"/>
                        </a:rPr>
                        <a:t>Dict trong RAM, mất khi restart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50" b="0">
                          <a:solidFill>
                            <a:srgbClr val="196B24"/>
                          </a:solidFill>
                          <a:latin typeface="Times New Roman"/>
                        </a:rPr>
                        <a:t>session / message / part bền vững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550" b="1">
                          <a:solidFill>
                            <a:srgbClr val="1A1A1A"/>
                          </a:solidFill>
                          <a:latin typeface="Times New Roman"/>
                        </a:rPr>
                        <a:t>Kết quả tool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50" b="0">
                          <a:solidFill>
                            <a:srgbClr val="C00000"/>
                          </a:solidFill>
                          <a:latin typeface="Times New Roman"/>
                        </a:rPr>
                        <a:t>Cắt cứng 1.800 ký tự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50" b="0">
                          <a:solidFill>
                            <a:srgbClr val="196B24"/>
                          </a:solidFill>
                          <a:latin typeface="Times New Roman"/>
                        </a:rPr>
                        <a:t>Observation policy + attachment ngoài context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550" b="1">
                          <a:solidFill>
                            <a:srgbClr val="1A1A1A"/>
                          </a:solidFill>
                          <a:latin typeface="Times New Roman"/>
                        </a:rPr>
                        <a:t>Số liệu trong câu trả lời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50" b="0">
                          <a:solidFill>
                            <a:srgbClr val="C00000"/>
                          </a:solidFill>
                          <a:latin typeface="Times New Roman"/>
                        </a:rPr>
                        <a:t>Vá chuỗi sau khi sinh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50" b="0">
                          <a:solidFill>
                            <a:srgbClr val="196B24"/>
                          </a:solidFill>
                          <a:latin typeface="Times New Roman"/>
                        </a:rPr>
                        <a:t>Numeric validator: shadow → strict → fallback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550" b="1">
                          <a:solidFill>
                            <a:srgbClr val="1A1A1A"/>
                          </a:solidFill>
                          <a:latin typeface="Times New Roman"/>
                        </a:rPr>
                        <a:t>Token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50" b="0">
                          <a:solidFill>
                            <a:srgbClr val="C00000"/>
                          </a:solidFill>
                          <a:latin typeface="Times New Roman"/>
                        </a:rPr>
                        <a:t>len(text) // 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50" b="0">
                          <a:solidFill>
                            <a:srgbClr val="196B24"/>
                          </a:solidFill>
                          <a:latin typeface="Times New Roman"/>
                        </a:rPr>
                        <a:t>count_tokens của provider, ghi cost mỗi step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550" b="1">
                          <a:solidFill>
                            <a:srgbClr val="1A1A1A"/>
                          </a:solidFill>
                          <a:latin typeface="Times New Roman"/>
                        </a:rPr>
                        <a:t>Timeout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50" b="0">
                          <a:solidFill>
                            <a:srgbClr val="C00000"/>
                          </a:solidFill>
                          <a:latin typeface="Times New Roman"/>
                        </a:rPr>
                        <a:t>240s lồng trong 240s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50" b="0">
                          <a:solidFill>
                            <a:srgbClr val="196B24"/>
                          </a:solidFill>
                          <a:latin typeface="Times New Roman"/>
                        </a:rPr>
                        <a:t>Một deadline cho cả lượt, truyền xuống mọi tool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550" b="1">
                          <a:solidFill>
                            <a:srgbClr val="1A1A1A"/>
                          </a:solidFill>
                          <a:latin typeface="Times New Roman"/>
                        </a:rPr>
                        <a:t>Phụ thuộc module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50" b="0">
                          <a:solidFill>
                            <a:srgbClr val="C00000"/>
                          </a:solidFill>
                          <a:latin typeface="Times New Roman"/>
                        </a:rPr>
                        <a:t>Không có luật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50" b="0">
                          <a:solidFill>
                            <a:srgbClr val="196B24"/>
                          </a:solidFill>
                          <a:latin typeface="Times New Roman"/>
                        </a:rPr>
                        <a:t>harness/ không import agents/ hay model_server/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3" name="Rounded Rectangle 112"/>
          <p:cNvSpPr/>
          <p:nvPr/>
        </p:nvSpPr>
        <p:spPr>
          <a:xfrm>
            <a:off x="548640" y="5779007"/>
            <a:ext cx="11091672" cy="640080"/>
          </a:xfrm>
          <a:prstGeom prst="roundRect">
            <a:avLst>
              <a:gd name="adj" fmla="val 18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Không đổi một dòng nào của thuật toán khoa học — Làn A giữ nguyên và vẫn tái lập được.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910879" y="6492240"/>
            <a:ext cx="2170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ToxAgent Harness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1">
                <a:solidFill>
                  <a:srgbClr val="002060"/>
                </a:solidFill>
                <a:latin typeface="Times New Roman"/>
              </a:rPr>
              <a:t>Lộ trình — mỗi giai đoạn có điều kiện thoát đo được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2" name="Table 111"/>
          <p:cNvGraphicFramePr>
            <a:graphicFrameLocks noGrp="1"/>
          </p:cNvGraphicFramePr>
          <p:nvPr/>
        </p:nvGraphicFramePr>
        <p:xfrm>
          <a:off x="502920" y="932688"/>
          <a:ext cx="11183111" cy="3931920"/>
        </p:xfrm>
        <a:graphic>
          <a:graphicData uri="http://schemas.openxmlformats.org/drawingml/2006/table">
            <a:tbl>
              <a:tblPr firstRow="1" bandRow="0"/>
              <a:tblGrid>
                <a:gridCol w="824983"/>
                <a:gridCol w="4766572"/>
                <a:gridCol w="5591556"/>
              </a:tblGrid>
              <a:tr h="65532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GĐ</a:t>
                      </a:r>
                    </a:p>
                  </a:txBody>
                  <a:tcPr marL="73152" marR="73152" marT="36576" marB="36576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Phạm vi</a:t>
                      </a:r>
                    </a:p>
                  </a:txBody>
                  <a:tcPr marL="73152" marR="73152" marT="36576" marB="36576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Điều kiện thoát</a:t>
                      </a:r>
                    </a:p>
                  </a:txBody>
                  <a:tcPr marL="73152" marR="73152" marT="36576" marB="36576" anchor="ctr">
                    <a:solidFill>
                      <a:srgbClr val="0E2841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500" b="1">
                          <a:solidFill>
                            <a:srgbClr val="1A1A1A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Dọn coupling / legacy trước khi đổi kiến trúc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Không còn LlmAgent trong agents/ · main.py dưới 4.000 dòng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benchmark khớp baseline đã chụp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500" b="1">
                          <a:solidFill>
                            <a:srgbClr val="1A1A1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Chuẩn hoá 10 tool: schema, timeout/retry, MCP wrapper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Gọi được surface tool từ một client ngoài và hoàn thành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phân tích aspirin. Chưa viết loop.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500" b="1">
                          <a:solidFill>
                            <a:srgbClr val="1A1A1A"/>
                          </a:solidFill>
                          <a:latin typeface="Times New Roman"/>
                        </a:rPr>
                        <a:t>1.5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session / message / part, observation &amp; attachment store bao Làn 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Chạy run_orchestrator_flow tạo audit bền vững;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tái dựng được phân tích từ state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500" b="1">
                          <a:solidFill>
                            <a:srgbClr val="1A1A1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Harness loop, registry, context assembly, provenance shadow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Tool calling native hoạt động; có dữ liệu tỉ lệ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vi phạm provenance thật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500" b="1">
                          <a:solidFill>
                            <a:srgbClr val="1A1A1A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Skill/profile markdown, permission, compaction, report snapshot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Cấu hình loop khai báo được; context dài vẫn audit được;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không bật tính năng không có số đo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3" name="Rounded Rectangle 112"/>
          <p:cNvSpPr/>
          <p:nvPr/>
        </p:nvSpPr>
        <p:spPr>
          <a:xfrm>
            <a:off x="502920" y="4956048"/>
            <a:ext cx="11183112" cy="694944"/>
          </a:xfrm>
          <a:prstGeom prst="roundRect">
            <a:avLst>
              <a:gd name="adj" fmla="val 4000"/>
            </a:avLst>
          </a:prstGeom>
          <a:solidFill>
            <a:srgbClr val="FDF0E6"/>
          </a:solidFill>
          <a:ln w="1651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77240" y="5065776"/>
            <a:ext cx="1063447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97132"/>
                </a:solidFill>
                <a:latin typeface="Times New Roman"/>
              </a:rPr>
              <a:t>Thứ tự quan trọng:  </a:t>
            </a:r>
            <a:r>
              <a:rPr sz="1800" b="0">
                <a:solidFill>
                  <a:srgbClr val="002060"/>
                </a:solidFill>
                <a:latin typeface="Times New Roman"/>
              </a:rPr>
              <a:t>giai đoạn 1.5 (audit) đi TRƯỚC giai đoạn 2 (loop) — cần quan sát được loop.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48640" y="5742432"/>
            <a:ext cx="11091672" cy="640080"/>
          </a:xfrm>
          <a:prstGeom prst="roundRect">
            <a:avLst>
              <a:gd name="adj" fmla="val 18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Chụp baseline benchmark TRƯỚC giai đoạn 0 — để chứng minh việc dọn không đổi kết quả.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910879" y="6492240"/>
            <a:ext cx="2170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ToxAgent Harness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1">
                <a:solidFill>
                  <a:srgbClr val="002060"/>
                </a:solidFill>
                <a:latin typeface="Times New Roman"/>
              </a:rPr>
              <a:t>Phạm vi:  những thứ cố tình KHÔNG làm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548640" y="932688"/>
            <a:ext cx="11091672" cy="7315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49808" y="1124712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600" b="1">
                <a:solidFill>
                  <a:srgbClr val="002060"/>
                </a:solidFill>
                <a:latin typeface="Times New Roman"/>
              </a:rPr>
              <a:t/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298448" y="1024128"/>
            <a:ext cx="1010412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Plugin runtime đa gói  —  </a:t>
            </a:r>
            <a:r>
              <a:rPr sz="1700" b="0">
                <a:solidFill>
                  <a:srgbClr val="595959"/>
                </a:solidFill>
                <a:latin typeface="Times New Roman"/>
              </a:rPr>
              <a:t>DSH có 247 package và ~7.900 file. ToxAgent có 12.265 dòng trong ba gói — ở quy mô đó plugin runtime là chi phí thuần.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48640" y="1728216"/>
            <a:ext cx="11091672" cy="7315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9808" y="1920240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600" b="1">
                <a:solidFill>
                  <a:srgbClr val="002060"/>
                </a:solidFill>
                <a:latin typeface="Times New Roman"/>
              </a:rPr>
              <a:t/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298448" y="1819656"/>
            <a:ext cx="1010412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Sandbox chạy mã người dùng  —  </a:t>
            </a:r>
            <a:r>
              <a:rPr sz="1700" b="0">
                <a:solidFill>
                  <a:srgbClr val="595959"/>
                </a:solidFill>
                <a:latin typeface="Times New Roman"/>
              </a:rPr>
              <a:t>ToxAgent không chạy mã do người dùng cung cấp. Đây là phần khó nhất của DSH và ta được miễn phí.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48640" y="2523744"/>
            <a:ext cx="11091672" cy="7315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49808" y="2715768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600" b="1">
                <a:solidFill>
                  <a:srgbClr val="002060"/>
                </a:solidFill>
                <a:latin typeface="Times New Roman"/>
              </a:rPr>
              <a:t/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98448" y="2615184"/>
            <a:ext cx="1010412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Code Mode, subagent, workflow do LLM tự sinh  —  </a:t>
            </a:r>
            <a:r>
              <a:rPr sz="1700" b="0">
                <a:solidFill>
                  <a:srgbClr val="595959"/>
                </a:solidFill>
                <a:latin typeface="Times New Roman"/>
              </a:rPr>
              <a:t>Không có bài toán nào trong ToxAgent cần chúng. Ghi ra đây để về sau không mở lại.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48640" y="3319272"/>
            <a:ext cx="11091672" cy="7315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749808" y="3511296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600" b="1">
                <a:solidFill>
                  <a:srgbClr val="002060"/>
                </a:solidFill>
                <a:latin typeface="Times New Roman"/>
              </a:rPr>
              <a:t/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98448" y="3410712"/>
            <a:ext cx="1010412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Approval UI giữa lượt cho tool  —  </a:t>
            </a:r>
            <a:r>
              <a:rPr sz="1700" b="0">
                <a:solidFill>
                  <a:srgbClr val="595959"/>
                </a:solidFill>
                <a:latin typeface="Times New Roman"/>
              </a:rPr>
              <a:t>Thay bằng pre-execute hook: validate, quota, dedupe, deadline.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48640" y="4114800"/>
            <a:ext cx="11091672" cy="7315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749808" y="4306824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600" b="1">
                <a:solidFill>
                  <a:srgbClr val="002060"/>
                </a:solidFill>
                <a:latin typeface="Times New Roman"/>
              </a:rPr>
              <a:t/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298448" y="4206240"/>
            <a:ext cx="1010412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Chuyển sang LangGraph / pydantic-ai chỉ để có loop  —  </a:t>
            </a:r>
            <a:r>
              <a:rPr sz="1700" b="0">
                <a:solidFill>
                  <a:srgbClr val="595959"/>
                </a:solidFill>
                <a:latin typeface="Times New Roman"/>
              </a:rPr>
              <a:t>Thiết kế này sở hữu loop và state mà ToxAgent cần; đổi framework không giải quyết tám quyết định ở trên.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48640" y="4910328"/>
            <a:ext cx="11091672" cy="7315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749808" y="5102352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600" b="1">
                <a:solidFill>
                  <a:srgbClr val="002060"/>
                </a:solidFill>
                <a:latin typeface="Times New Roman"/>
              </a:rPr>
              <a:t/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298448" y="5001768"/>
            <a:ext cx="1010412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Bật strict provenance sớm  —  </a:t>
            </a:r>
            <a:r>
              <a:rPr sz="1700" b="0">
                <a:solidFill>
                  <a:srgbClr val="595959"/>
                </a:solidFill>
                <a:latin typeface="Times New Roman"/>
              </a:rPr>
              <a:t>Chỉ bật sau khi có đủ dữ liệu shadow mode để đánh giá tỉ lệ vi phạm.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48640" y="5779007"/>
            <a:ext cx="11091672" cy="640080"/>
          </a:xfrm>
          <a:prstGeom prst="roundRect">
            <a:avLst>
              <a:gd name="adj" fmla="val 18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Phạm vi hẹp là một lựa chọn thiết kế, không phải thiếu sót.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910879" y="6492240"/>
            <a:ext cx="2170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ToxAgent Harness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1">
                <a:solidFill>
                  <a:srgbClr val="002060"/>
                </a:solidFill>
                <a:latin typeface="Times New Roman"/>
              </a:rPr>
              <a:t>Rủi ro đã nhận diện và cách xử lý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2" name="Table 111"/>
          <p:cNvGraphicFramePr>
            <a:graphicFrameLocks noGrp="1"/>
          </p:cNvGraphicFramePr>
          <p:nvPr/>
        </p:nvGraphicFramePr>
        <p:xfrm>
          <a:off x="548640" y="960120"/>
          <a:ext cx="11091671" cy="4617720"/>
        </p:xfrm>
        <a:graphic>
          <a:graphicData uri="http://schemas.openxmlformats.org/drawingml/2006/table">
            <a:tbl>
              <a:tblPr firstRow="1" bandRow="0"/>
              <a:tblGrid>
                <a:gridCol w="5775002"/>
                <a:gridCol w="5316669"/>
              </a:tblGrid>
              <a:tr h="577215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Rủi ro</a:t>
                      </a:r>
                    </a:p>
                  </a:txBody>
                  <a:tcPr marL="73152" marR="73152" marT="36576" marB="36576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Thiết kế giảm thiểu</a:t>
                      </a:r>
                    </a:p>
                  </a:txBody>
                  <a:tcPr marL="73152" marR="73152" marT="36576" marB="36576" anchor="ctr">
                    <a:solidFill>
                      <a:srgbClr val="0E2841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550" b="1">
                          <a:solidFill>
                            <a:srgbClr val="1A1A1A"/>
                          </a:solidFill>
                          <a:latin typeface="Times New Roman"/>
                        </a:rPr>
                        <a:t>Tool gọi HTTP ngược về chính process</a:t>
                      </a:r>
                    </a:p>
                    <a:p>
                      <a:pPr>
                        <a:lnSpc>
                          <a:spcPct val="95000"/>
                        </a:lnSpc>
                      </a:pPr>
                      <a:r>
                        <a:rPr sz="1550" b="1">
                          <a:solidFill>
                            <a:srgbClr val="1A1A1A"/>
                          </a:solidFill>
                          <a:latin typeface="Times New Roman"/>
                        </a:rPr>
                        <a:t>(MODEL_SERVER_TIMEOUT 240s lồng nhau)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50" b="0">
                          <a:solidFill>
                            <a:srgbClr val="1A1A1A"/>
                          </a:solidFill>
                          <a:latin typeface="Times New Roman"/>
                        </a:rPr>
                        <a:t>Adapter gọi in-process khi URL tự trỏ về mình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550" b="1">
                          <a:solidFill>
                            <a:srgbClr val="1A1A1A"/>
                          </a:solidFill>
                          <a:latin typeface="Times New Roman"/>
                        </a:rPr>
                        <a:t>Timeout lồng: 240s + PubMed 3×15s + PubChem 3×12s</a:t>
                      </a:r>
                    </a:p>
                    <a:p>
                      <a:pPr>
                        <a:lnSpc>
                          <a:spcPct val="95000"/>
                        </a:lnSpc>
                      </a:pPr>
                      <a:r>
                        <a:rPr sz="1550" b="1">
                          <a:solidFill>
                            <a:srgbClr val="1A1A1A"/>
                          </a:solidFill>
                          <a:latin typeface="Times New Roman"/>
                        </a:rPr>
                        <a:t>+ chuỗi fallback Gemini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50" b="0">
                          <a:solidFill>
                            <a:srgbClr val="1A1A1A"/>
                          </a:solidFill>
                          <a:latin typeface="Times New Roman"/>
                        </a:rPr>
                        <a:t>Một deadline chung cho cả lượt, truyền xuống mọi tool qua ToolExec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550" b="1">
                          <a:solidFill>
                            <a:srgbClr val="1A1A1A"/>
                          </a:solidFill>
                          <a:latin typeface="Times New Roman"/>
                        </a:rPr>
                        <a:t>SSE và audit trail thành hai nguồn sự thật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50" b="0">
                          <a:solidFill>
                            <a:srgbClr val="1A1A1A"/>
                          </a:solidFill>
                          <a:latin typeface="Times New Roman"/>
                        </a:rPr>
                        <a:t>SSE dẫn xuất từ change feed đã ghi, không phát độc lập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550" b="1">
                          <a:solidFill>
                            <a:srgbClr val="1A1A1A"/>
                          </a:solidFill>
                          <a:latin typeface="Times New Roman"/>
                        </a:rPr>
                        <a:t>LLM bịa số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50" b="0">
                          <a:solidFill>
                            <a:srgbClr val="1A1A1A"/>
                          </a:solidFill>
                          <a:latin typeface="Times New Roman"/>
                        </a:rPr>
                        <a:t>Numeric validator: shadow → strict, retry một lần, fallback xác định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550" b="1">
                          <a:solidFill>
                            <a:srgbClr val="1A1A1A"/>
                          </a:solidFill>
                          <a:latin typeface="Times New Roman"/>
                        </a:rPr>
                        <a:t>JSON / raw / base64 làm tràn context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50" b="0">
                          <a:solidFill>
                            <a:srgbClr val="1A1A1A"/>
                          </a:solidFill>
                          <a:latin typeface="Times New Roman"/>
                        </a:rPr>
                        <a:t>Observation policy theo tool; attachment nằm ngoài context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550" b="1">
                          <a:solidFill>
                            <a:srgbClr val="1A1A1A"/>
                          </a:solidFill>
                          <a:latin typeface="Times New Roman"/>
                        </a:rPr>
                        <a:t>Blob bị dọn nhưng part vẫn trỏ tới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50" b="0">
                          <a:solidFill>
                            <a:srgbClr val="1A1A1A"/>
                          </a:solidFill>
                          <a:latin typeface="Times New Roman"/>
                        </a:rPr>
                        <a:t>Retention attachment bằng vòng đời session; kiểm reference integrity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550" b="1">
                          <a:solidFill>
                            <a:srgbClr val="1A1A1A"/>
                          </a:solidFill>
                          <a:latin typeface="Times New Roman"/>
                        </a:rPr>
                        <a:t>Evidence QA trùng ở hai nơi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550" b="0">
                          <a:solidFill>
                            <a:srgbClr val="1A1A1A"/>
                          </a:solidFill>
                          <a:latin typeface="Times New Roman"/>
                        </a:rPr>
                        <a:t>Chọn bản agents/evidence_qa_agent.py — đúng chiều phụ thuộc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3" name="Rounded Rectangle 112"/>
          <p:cNvSpPr/>
          <p:nvPr/>
        </p:nvSpPr>
        <p:spPr>
          <a:xfrm>
            <a:off x="548640" y="5760720"/>
            <a:ext cx="11091672" cy="640080"/>
          </a:xfrm>
          <a:prstGeom prst="roundRect">
            <a:avLst>
              <a:gd name="adj" fmla="val 18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Bảy rủi ro này đều kiểm chứng được trên nhánh agent_test @ 12c3aa5.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910879" y="6492240"/>
            <a:ext cx="2170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ToxAgent Harness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1">
                <a:solidFill>
                  <a:srgbClr val="002060"/>
                </a:solidFill>
                <a:latin typeface="Times New Roman"/>
              </a:rPr>
              <a:t>Kết luận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548640" y="1005840"/>
            <a:ext cx="11091672" cy="1060704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77240" y="1252728"/>
            <a:ext cx="566928" cy="566928"/>
          </a:xfrm>
          <a:prstGeom prst="ellipse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600" b="1">
                <a:solidFill>
                  <a:srgbClr val="002060"/>
                </a:solidFill>
                <a:latin typeface="Times New Roman"/>
              </a:rPr>
              <a:t/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554480" y="1133856"/>
            <a:ext cx="9857232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900" b="1">
                <a:solidFill>
                  <a:srgbClr val="196B24"/>
                </a:solidFill>
                <a:latin typeface="Times New Roman"/>
              </a:rPr>
              <a:t>Làn A giữ nguyên, vĩnh viễn deterministic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>
                <a:solidFill>
                  <a:srgbClr val="002060"/>
                </a:solidFill>
                <a:latin typeface="Times New Roman"/>
              </a:rPr>
              <a:t>Không agent-hoá kết quả khoa học định lượng. Batch và benchmark không bao giờ đi qua Làn B.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48640" y="2157984"/>
            <a:ext cx="11091672" cy="1060704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77240" y="2404872"/>
            <a:ext cx="566928" cy="5669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600" b="1">
                <a:solidFill>
                  <a:srgbClr val="002060"/>
                </a:solidFill>
                <a:latin typeface="Times New Roman"/>
              </a:rPr>
              <a:t/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554480" y="2286000"/>
            <a:ext cx="9857232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900" b="1">
                <a:solidFill>
                  <a:srgbClr val="156082"/>
                </a:solidFill>
                <a:latin typeface="Times New Roman"/>
              </a:rPr>
              <a:t>Harness sở hữu tám quyết định, mỗi cái một module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>
                <a:solidFill>
                  <a:srgbClr val="002060"/>
                </a:solidFill>
                <a:latin typeface="Times New Roman"/>
              </a:rPr>
              <a:t>session · prompt · tools · loop · provenance · llm · budget · router — có luật phụ thuộc cưỡng chế bằng CI.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48640" y="3310128"/>
            <a:ext cx="11091672" cy="1060704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77240" y="3557016"/>
            <a:ext cx="566928" cy="5669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600" b="1">
                <a:solidFill>
                  <a:srgbClr val="002060"/>
                </a:solidFill>
                <a:latin typeface="Times New Roman"/>
              </a:rPr>
              <a:t/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554480" y="3438144"/>
            <a:ext cx="9857232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900" b="1">
                <a:solidFill>
                  <a:srgbClr val="E97132"/>
                </a:solidFill>
                <a:latin typeface="Times New Roman"/>
              </a:rPr>
              <a:t>Audit trước, loop sau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>
                <a:solidFill>
                  <a:srgbClr val="002060"/>
                </a:solidFill>
                <a:latin typeface="Times New Roman"/>
              </a:rPr>
              <a:t>Giai đoạn 1.5 dựng session/message/part trước giai đoạn 2 — không viết loop khi chưa quan sát được nó.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48640" y="4462272"/>
            <a:ext cx="11091672" cy="1060704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777240" y="4709160"/>
            <a:ext cx="566928" cy="5669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600" b="1">
                <a:solidFill>
                  <a:srgbClr val="002060"/>
                </a:solidFill>
                <a:latin typeface="Times New Roman"/>
              </a:rPr>
              <a:t/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554480" y="4590288"/>
            <a:ext cx="9857232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900" b="1">
                <a:solidFill>
                  <a:srgbClr val="A02B93"/>
                </a:solidFill>
                <a:latin typeface="Times New Roman"/>
              </a:rPr>
              <a:t>Không bật tính năng nào chưa có số đo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>
                <a:solidFill>
                  <a:srgbClr val="002060"/>
                </a:solidFill>
                <a:latin typeface="Times New Roman"/>
              </a:rPr>
              <a:t>Provenance chạy shadow trước; compaction và cache chỉ tối ưu sau khi token meter cho dữ liệu thật.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48640" y="5742432"/>
            <a:ext cx="11091672" cy="640080"/>
          </a:xfrm>
          <a:prstGeom prst="roundRect">
            <a:avLst>
              <a:gd name="adj" fmla="val 18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Câu hỏi cần thầy cho ý kiến: chốt Làn A deterministic vĩnh viễn, và làm giai đoạn 0 trước?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910879" y="6492240"/>
            <a:ext cx="2170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ToxAgent Harness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155448" y="2221992"/>
            <a:ext cx="11887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0E2841"/>
                </a:solidFill>
                <a:latin typeface="Times New Roman"/>
              </a:rPr>
              <a:t>Thank you!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55448" y="3246120"/>
            <a:ext cx="1188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156082"/>
                </a:solidFill>
                <a:latin typeface="Times New Roman"/>
              </a:rPr>
              <a:t>Câu hỏi và góp 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2025-03-17T07:41:48Z</dcterms:created>
</cp:coreProperties>
</file>